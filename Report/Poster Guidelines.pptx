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</p:sldIdLst>
  <p:sldSz cx="14224000" cy="20104100"/>
  <p:notesSz cx="142240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94" y="-594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800" y="6232271"/>
            <a:ext cx="1209040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3600" y="11258296"/>
            <a:ext cx="995680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120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536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200" y="804164"/>
            <a:ext cx="1280160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4623943"/>
            <a:ext cx="1280160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6160" y="18696814"/>
            <a:ext cx="455168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120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4128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onlinelibrary.wiley.com/doi/abs/10.1002/sim.3940" TargetMode="External"/><Relationship Id="rId13" Type="http://schemas.openxmlformats.org/officeDocument/2006/relationships/image" Target="../media/image9.png"/><Relationship Id="rId18" Type="http://schemas.openxmlformats.org/officeDocument/2006/relationships/image" Target="../media/image14.jpg"/><Relationship Id="rId3" Type="http://schemas.openxmlformats.org/officeDocument/2006/relationships/image" Target="../media/image2.jpg"/><Relationship Id="rId7" Type="http://schemas.openxmlformats.org/officeDocument/2006/relationships/hyperlink" Target="https://onlinelibrary.wiley.com/doi/10.1111/j.1467-9868.2010.00749.x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i.org/10.3390/ijerph15061112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jpg"/><Relationship Id="rId15" Type="http://schemas.openxmlformats.org/officeDocument/2006/relationships/image" Target="../media/image11.jpg"/><Relationship Id="rId10" Type="http://schemas.openxmlformats.org/officeDocument/2006/relationships/image" Target="../media/image6.jp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5.jpg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1229" y="16714255"/>
            <a:ext cx="6391910" cy="3354704"/>
          </a:xfrm>
          <a:custGeom>
            <a:avLst/>
            <a:gdLst/>
            <a:ahLst/>
            <a:cxnLst/>
            <a:rect l="l" t="t" r="r" b="b"/>
            <a:pathLst>
              <a:path w="6391909" h="3354705">
                <a:moveTo>
                  <a:pt x="0" y="84320"/>
                </a:moveTo>
                <a:lnTo>
                  <a:pt x="6624" y="51497"/>
                </a:lnTo>
                <a:lnTo>
                  <a:pt x="24689" y="24695"/>
                </a:lnTo>
                <a:lnTo>
                  <a:pt x="51483" y="6625"/>
                </a:lnTo>
                <a:lnTo>
                  <a:pt x="84295" y="0"/>
                </a:lnTo>
                <a:lnTo>
                  <a:pt x="6307079" y="0"/>
                </a:lnTo>
                <a:lnTo>
                  <a:pt x="6339902" y="6625"/>
                </a:lnTo>
                <a:lnTo>
                  <a:pt x="6366704" y="24695"/>
                </a:lnTo>
                <a:lnTo>
                  <a:pt x="6384774" y="51497"/>
                </a:lnTo>
                <a:lnTo>
                  <a:pt x="6391400" y="84320"/>
                </a:lnTo>
                <a:lnTo>
                  <a:pt x="6391400" y="3269804"/>
                </a:lnTo>
                <a:lnTo>
                  <a:pt x="6384774" y="3302614"/>
                </a:lnTo>
                <a:lnTo>
                  <a:pt x="6366704" y="3329405"/>
                </a:lnTo>
                <a:lnTo>
                  <a:pt x="6339902" y="3347467"/>
                </a:lnTo>
                <a:lnTo>
                  <a:pt x="6307079" y="3354090"/>
                </a:lnTo>
                <a:lnTo>
                  <a:pt x="84295" y="3354090"/>
                </a:lnTo>
                <a:lnTo>
                  <a:pt x="51483" y="3347467"/>
                </a:lnTo>
                <a:lnTo>
                  <a:pt x="24689" y="3329405"/>
                </a:lnTo>
                <a:lnTo>
                  <a:pt x="6624" y="3302614"/>
                </a:lnTo>
                <a:lnTo>
                  <a:pt x="0" y="3269804"/>
                </a:lnTo>
                <a:lnTo>
                  <a:pt x="0" y="84320"/>
                </a:lnTo>
                <a:close/>
              </a:path>
            </a:pathLst>
          </a:custGeom>
          <a:ln w="1789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4943" y="16760710"/>
            <a:ext cx="6247765" cy="8235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8755" marR="30480" indent="-161290" algn="just">
              <a:lnSpc>
                <a:spcPct val="100800"/>
              </a:lnSpc>
              <a:spcBef>
                <a:spcPts val="90"/>
              </a:spcBef>
              <a:buClr>
                <a:srgbClr val="C00000"/>
              </a:buClr>
              <a:buChar char="○"/>
              <a:tabLst>
                <a:tab pos="198755" algn="l"/>
              </a:tabLst>
            </a:pPr>
            <a:r>
              <a:rPr sz="1300" dirty="0">
                <a:latin typeface="Calibri"/>
                <a:cs typeface="Calibri"/>
              </a:rPr>
              <a:t>For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𝐴</a:t>
            </a:r>
            <a:r>
              <a:rPr sz="1425" baseline="-17543" dirty="0">
                <a:latin typeface="Cambria Math"/>
                <a:cs typeface="Cambria Math"/>
              </a:rPr>
              <a:t>𝑡</a:t>
            </a:r>
            <a:r>
              <a:rPr sz="1425" spc="397" baseline="-17543" dirty="0">
                <a:latin typeface="Cambria Math"/>
                <a:cs typeface="Cambria Math"/>
              </a:rPr>
              <a:t> </a:t>
            </a:r>
            <a:r>
              <a:rPr sz="1300" dirty="0">
                <a:latin typeface="Calibri"/>
                <a:cs typeface="Calibri"/>
              </a:rPr>
              <a:t>being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PM10</a:t>
            </a:r>
            <a:r>
              <a:rPr sz="1300" spc="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(coarse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particulate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matter</a:t>
            </a:r>
            <a:r>
              <a:rPr sz="1300" spc="1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which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if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&gt;40</a:t>
            </a:r>
            <a:r>
              <a:rPr sz="1300" spc="1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considered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1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health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risk), </a:t>
            </a:r>
            <a:r>
              <a:rPr sz="1300" dirty="0">
                <a:latin typeface="Calibri"/>
                <a:cs typeface="Calibri"/>
              </a:rPr>
              <a:t>we</a:t>
            </a:r>
            <a:r>
              <a:rPr sz="1300" spc="1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now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have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different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temperature-</a:t>
            </a:r>
            <a:r>
              <a:rPr sz="1300" dirty="0">
                <a:latin typeface="Calibri"/>
                <a:cs typeface="Calibri"/>
              </a:rPr>
              <a:t>lag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surfaces</a:t>
            </a:r>
            <a:r>
              <a:rPr sz="1300" spc="1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1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different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PM10</a:t>
            </a:r>
            <a:r>
              <a:rPr sz="1300" spc="1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values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(Figure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3).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Thessaloniki,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300" b="1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increased</a:t>
            </a:r>
            <a:r>
              <a:rPr sz="13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risk</a:t>
            </a:r>
            <a:r>
              <a:rPr sz="130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sz="1300" b="1" spc="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hot-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and-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humid</a:t>
            </a:r>
            <a:r>
              <a:rPr sz="1300" b="1" spc="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conditions</a:t>
            </a:r>
            <a:r>
              <a:rPr sz="13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30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clearly</a:t>
            </a:r>
            <a:r>
              <a:rPr sz="13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exacerbated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PM10</a:t>
            </a:r>
            <a:r>
              <a:rPr sz="13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levels</a:t>
            </a:r>
            <a:r>
              <a:rPr sz="1300" spc="-10" dirty="0"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9919" y="9317402"/>
            <a:ext cx="6387465" cy="6739890"/>
          </a:xfrm>
          <a:custGeom>
            <a:avLst/>
            <a:gdLst/>
            <a:ahLst/>
            <a:cxnLst/>
            <a:rect l="l" t="t" r="r" b="b"/>
            <a:pathLst>
              <a:path w="6387465" h="6739890">
                <a:moveTo>
                  <a:pt x="0" y="160474"/>
                </a:moveTo>
                <a:lnTo>
                  <a:pt x="8182" y="109755"/>
                </a:lnTo>
                <a:lnTo>
                  <a:pt x="30969" y="65704"/>
                </a:lnTo>
                <a:lnTo>
                  <a:pt x="65714" y="30965"/>
                </a:lnTo>
                <a:lnTo>
                  <a:pt x="109774" y="8182"/>
                </a:lnTo>
                <a:lnTo>
                  <a:pt x="160505" y="0"/>
                </a:lnTo>
                <a:lnTo>
                  <a:pt x="6226444" y="0"/>
                </a:lnTo>
                <a:lnTo>
                  <a:pt x="6277164" y="8182"/>
                </a:lnTo>
                <a:lnTo>
                  <a:pt x="6321219" y="30965"/>
                </a:lnTo>
                <a:lnTo>
                  <a:pt x="6355962" y="65704"/>
                </a:lnTo>
                <a:lnTo>
                  <a:pt x="6378748" y="109755"/>
                </a:lnTo>
                <a:lnTo>
                  <a:pt x="6386931" y="160474"/>
                </a:lnTo>
                <a:lnTo>
                  <a:pt x="6386931" y="6579018"/>
                </a:lnTo>
                <a:lnTo>
                  <a:pt x="6378748" y="6629737"/>
                </a:lnTo>
                <a:lnTo>
                  <a:pt x="6355962" y="6673788"/>
                </a:lnTo>
                <a:lnTo>
                  <a:pt x="6321219" y="6708528"/>
                </a:lnTo>
                <a:lnTo>
                  <a:pt x="6277164" y="6731311"/>
                </a:lnTo>
                <a:lnTo>
                  <a:pt x="6226444" y="6739493"/>
                </a:lnTo>
                <a:lnTo>
                  <a:pt x="160505" y="6739493"/>
                </a:lnTo>
                <a:lnTo>
                  <a:pt x="109774" y="6731311"/>
                </a:lnTo>
                <a:lnTo>
                  <a:pt x="65714" y="6708528"/>
                </a:lnTo>
                <a:lnTo>
                  <a:pt x="30969" y="6673788"/>
                </a:lnTo>
                <a:lnTo>
                  <a:pt x="8182" y="6629737"/>
                </a:lnTo>
                <a:lnTo>
                  <a:pt x="0" y="6579018"/>
                </a:lnTo>
                <a:lnTo>
                  <a:pt x="0" y="160474"/>
                </a:lnTo>
                <a:close/>
              </a:path>
            </a:pathLst>
          </a:custGeom>
          <a:ln w="1789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7823" y="9386827"/>
            <a:ext cx="6148705" cy="8235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3355" marR="5080" indent="-161290" algn="just">
              <a:lnSpc>
                <a:spcPct val="100800"/>
              </a:lnSpc>
              <a:spcBef>
                <a:spcPts val="90"/>
              </a:spcBef>
              <a:buChar char="○"/>
              <a:tabLst>
                <a:tab pos="173355" algn="l"/>
                <a:tab pos="174625" algn="l"/>
              </a:tabLst>
            </a:pPr>
            <a:r>
              <a:rPr sz="1300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1300" dirty="0">
                <a:latin typeface="Calibri"/>
                <a:cs typeface="Calibri"/>
              </a:rPr>
              <a:t>Implementing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DLNMs</a:t>
            </a:r>
            <a:r>
              <a:rPr sz="1300" spc="2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215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Generalized</a:t>
            </a:r>
            <a:r>
              <a:rPr sz="1300" b="1" spc="2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Additive</a:t>
            </a:r>
            <a:r>
              <a:rPr sz="1300" b="1" spc="2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r>
              <a:rPr sz="1300" b="1" spc="2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2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GAMs</a:t>
            </a:r>
            <a:r>
              <a:rPr sz="1300" spc="2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(Wood</a:t>
            </a:r>
            <a:r>
              <a:rPr sz="1300" spc="2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2011,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2017) </a:t>
            </a:r>
            <a:r>
              <a:rPr sz="1300" dirty="0">
                <a:latin typeface="Calibri"/>
                <a:cs typeface="Calibri"/>
              </a:rPr>
              <a:t>enables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optimal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estimation</a:t>
            </a:r>
            <a:r>
              <a:rPr sz="1300" spc="1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straightforward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interpretation.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Figure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1</a:t>
            </a:r>
            <a:r>
              <a:rPr sz="1300" spc="11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shows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RR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city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Thessaloniki,</a:t>
            </a:r>
            <a:r>
              <a:rPr sz="1300" spc="11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Greece,</a:t>
            </a:r>
            <a:r>
              <a:rPr sz="1300" spc="11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based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observational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data</a:t>
            </a:r>
            <a:r>
              <a:rPr sz="1300" spc="1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period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2006— </a:t>
            </a:r>
            <a:r>
              <a:rPr sz="1300" dirty="0">
                <a:latin typeface="Calibri"/>
                <a:cs typeface="Calibri"/>
              </a:rPr>
              <a:t>2016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(mortality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counts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weather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station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observations).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823" y="13421555"/>
            <a:ext cx="3226435" cy="171386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3355" marR="5080" indent="-161290">
              <a:lnSpc>
                <a:spcPct val="101600"/>
              </a:lnSpc>
              <a:spcBef>
                <a:spcPts val="75"/>
              </a:spcBef>
              <a:buChar char="○"/>
              <a:tabLst>
                <a:tab pos="173355" algn="l"/>
                <a:tab pos="174625" algn="l"/>
              </a:tabLst>
            </a:pPr>
            <a:r>
              <a:rPr sz="1300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1300" dirty="0">
                <a:latin typeface="Calibri"/>
                <a:cs typeface="Calibri"/>
              </a:rPr>
              <a:t>Apparent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temperature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quantifies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stress </a:t>
            </a:r>
            <a:r>
              <a:rPr sz="1300" dirty="0">
                <a:latin typeface="Calibri"/>
                <a:cs typeface="Calibri"/>
              </a:rPr>
              <a:t>from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both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temperature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humidity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(see </a:t>
            </a:r>
            <a:r>
              <a:rPr sz="1300" dirty="0">
                <a:latin typeface="Calibri"/>
                <a:cs typeface="Calibri"/>
              </a:rPr>
              <a:t>Figure</a:t>
            </a:r>
            <a:r>
              <a:rPr sz="1300" spc="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2),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so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peak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around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40°C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lags</a:t>
            </a:r>
            <a:r>
              <a:rPr sz="1300" spc="5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0-</a:t>
            </a:r>
            <a:r>
              <a:rPr sz="130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days indicates</a:t>
            </a:r>
            <a:r>
              <a:rPr sz="1300" spc="75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increased</a:t>
            </a:r>
            <a:r>
              <a:rPr sz="13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mortality</a:t>
            </a:r>
            <a:r>
              <a:rPr sz="1300" b="1" spc="5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risk</a:t>
            </a:r>
            <a:r>
              <a:rPr sz="13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during</a:t>
            </a:r>
            <a:r>
              <a:rPr sz="13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extreme</a:t>
            </a:r>
            <a:r>
              <a:rPr sz="13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hot-and-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humid</a:t>
            </a:r>
            <a:r>
              <a:rPr sz="1300" b="1" spc="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periods</a:t>
            </a:r>
            <a:r>
              <a:rPr sz="1300" spc="-10" dirty="0"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C00000"/>
              </a:buClr>
              <a:buFont typeface="Calibri"/>
              <a:buChar char="○"/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C00000"/>
              </a:buClr>
              <a:buFont typeface="Calibri"/>
              <a:buChar char="○"/>
            </a:pPr>
            <a:endParaRPr sz="1300">
              <a:latin typeface="Calibri"/>
              <a:cs typeface="Calibri"/>
            </a:endParaRPr>
          </a:p>
          <a:p>
            <a:pPr marL="175260" indent="-162560">
              <a:lnSpc>
                <a:spcPct val="100000"/>
              </a:lnSpc>
              <a:buClr>
                <a:srgbClr val="C00000"/>
              </a:buClr>
              <a:buChar char="○"/>
              <a:tabLst>
                <a:tab pos="175260" algn="l"/>
              </a:tabLst>
            </a:pPr>
            <a:r>
              <a:rPr sz="1300" dirty="0">
                <a:latin typeface="Calibri"/>
                <a:cs typeface="Calibri"/>
              </a:rPr>
              <a:t>GAMs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readily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allow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inclusion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other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69530" y="15367089"/>
            <a:ext cx="513715" cy="153670"/>
          </a:xfrm>
          <a:custGeom>
            <a:avLst/>
            <a:gdLst/>
            <a:ahLst/>
            <a:cxnLst/>
            <a:rect l="l" t="t" r="r" b="b"/>
            <a:pathLst>
              <a:path w="513714" h="153669">
                <a:moveTo>
                  <a:pt x="464805" y="0"/>
                </a:moveTo>
                <a:lnTo>
                  <a:pt x="462656" y="6207"/>
                </a:lnTo>
                <a:lnTo>
                  <a:pt x="471522" y="10069"/>
                </a:lnTo>
                <a:lnTo>
                  <a:pt x="479152" y="15392"/>
                </a:lnTo>
                <a:lnTo>
                  <a:pt x="497474" y="50866"/>
                </a:lnTo>
                <a:lnTo>
                  <a:pt x="499158" y="62639"/>
                </a:lnTo>
                <a:lnTo>
                  <a:pt x="499179" y="62789"/>
                </a:lnTo>
                <a:lnTo>
                  <a:pt x="497467" y="101662"/>
                </a:lnTo>
                <a:lnTo>
                  <a:pt x="479175" y="137800"/>
                </a:lnTo>
                <a:lnTo>
                  <a:pt x="462895" y="147067"/>
                </a:lnTo>
                <a:lnTo>
                  <a:pt x="464805" y="153263"/>
                </a:lnTo>
                <a:lnTo>
                  <a:pt x="501122" y="126486"/>
                </a:lnTo>
                <a:lnTo>
                  <a:pt x="513705" y="76691"/>
                </a:lnTo>
                <a:lnTo>
                  <a:pt x="512920" y="62789"/>
                </a:lnTo>
                <a:lnTo>
                  <a:pt x="494059" y="17436"/>
                </a:lnTo>
                <a:lnTo>
                  <a:pt x="475925" y="4001"/>
                </a:lnTo>
                <a:lnTo>
                  <a:pt x="464805" y="0"/>
                </a:lnTo>
                <a:close/>
              </a:path>
              <a:path w="513714" h="153669">
                <a:moveTo>
                  <a:pt x="48911" y="0"/>
                </a:moveTo>
                <a:lnTo>
                  <a:pt x="12642" y="26837"/>
                </a:lnTo>
                <a:lnTo>
                  <a:pt x="47" y="75855"/>
                </a:lnTo>
                <a:lnTo>
                  <a:pt x="0" y="76691"/>
                </a:lnTo>
                <a:lnTo>
                  <a:pt x="714" y="89377"/>
                </a:lnTo>
                <a:lnTo>
                  <a:pt x="793" y="90772"/>
                </a:lnTo>
                <a:lnTo>
                  <a:pt x="19612" y="135876"/>
                </a:lnTo>
                <a:lnTo>
                  <a:pt x="48911" y="153263"/>
                </a:lnTo>
                <a:lnTo>
                  <a:pt x="50809" y="147067"/>
                </a:lnTo>
                <a:lnTo>
                  <a:pt x="42099" y="143185"/>
                </a:lnTo>
                <a:lnTo>
                  <a:pt x="34576" y="137800"/>
                </a:lnTo>
                <a:lnTo>
                  <a:pt x="16268" y="101662"/>
                </a:lnTo>
                <a:lnTo>
                  <a:pt x="14015" y="75855"/>
                </a:lnTo>
                <a:lnTo>
                  <a:pt x="14577" y="62789"/>
                </a:lnTo>
                <a:lnTo>
                  <a:pt x="28252" y="22191"/>
                </a:lnTo>
                <a:lnTo>
                  <a:pt x="51107" y="6207"/>
                </a:lnTo>
                <a:lnTo>
                  <a:pt x="489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3609" y="15112389"/>
            <a:ext cx="2826385" cy="425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30480">
              <a:lnSpc>
                <a:spcPct val="101600"/>
              </a:lnSpc>
              <a:spcBef>
                <a:spcPts val="75"/>
              </a:spcBef>
            </a:pPr>
            <a:r>
              <a:rPr sz="1300" dirty="0">
                <a:latin typeface="Calibri"/>
                <a:cs typeface="Calibri"/>
              </a:rPr>
              <a:t>stressors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such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air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pollution,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say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𝐴</a:t>
            </a:r>
            <a:r>
              <a:rPr sz="1425" baseline="-17543" dirty="0">
                <a:latin typeface="Cambria Math"/>
                <a:cs typeface="Cambria Math"/>
              </a:rPr>
              <a:t>𝑡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by </a:t>
            </a:r>
            <a:r>
              <a:rPr sz="1300" spc="-10" dirty="0">
                <a:latin typeface="Calibri"/>
                <a:cs typeface="Calibri"/>
              </a:rPr>
              <a:t>extending</a:t>
            </a:r>
            <a:r>
              <a:rPr sz="1300" spc="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function</a:t>
            </a:r>
            <a:r>
              <a:rPr sz="1300" dirty="0">
                <a:latin typeface="Cambria Math"/>
                <a:cs typeface="Cambria Math"/>
              </a:rPr>
              <a:t>𝑓</a:t>
            </a:r>
            <a:r>
              <a:rPr sz="1300" spc="254" dirty="0">
                <a:latin typeface="Cambria Math"/>
                <a:cs typeface="Cambria Math"/>
              </a:rPr>
              <a:t> </a:t>
            </a:r>
            <a:r>
              <a:rPr sz="1300" spc="-20" dirty="0">
                <a:latin typeface="Cambria Math"/>
                <a:cs typeface="Cambria Math"/>
              </a:rPr>
              <a:t>𝑇</a:t>
            </a:r>
            <a:r>
              <a:rPr sz="1425" spc="-30" baseline="-17543" dirty="0">
                <a:latin typeface="Cambria Math"/>
                <a:cs typeface="Cambria Math"/>
              </a:rPr>
              <a:t>𝑡−𝑙</a:t>
            </a:r>
            <a:r>
              <a:rPr sz="1425" spc="-135" baseline="-17543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,</a:t>
            </a:r>
            <a:r>
              <a:rPr sz="1300" spc="-100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𝑙</a:t>
            </a:r>
            <a:r>
              <a:rPr sz="1300" spc="175" dirty="0">
                <a:latin typeface="Cambria Math"/>
                <a:cs typeface="Cambria Math"/>
              </a:rPr>
              <a:t>  </a:t>
            </a:r>
            <a:r>
              <a:rPr sz="1300" spc="-25" dirty="0">
                <a:latin typeface="Calibri"/>
                <a:cs typeface="Calibri"/>
              </a:rPr>
              <a:t>to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607" y="15550708"/>
            <a:ext cx="8794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50" baseline="12820" dirty="0">
                <a:latin typeface="Cambria Math"/>
                <a:cs typeface="Cambria Math"/>
              </a:rPr>
              <a:t>𝑓(𝑇</a:t>
            </a:r>
            <a:r>
              <a:rPr sz="950" dirty="0">
                <a:latin typeface="Cambria Math"/>
                <a:cs typeface="Cambria Math"/>
              </a:rPr>
              <a:t>𝑡−𝑙</a:t>
            </a:r>
            <a:r>
              <a:rPr sz="1950" baseline="12820" dirty="0">
                <a:latin typeface="Cambria Math"/>
                <a:cs typeface="Cambria Math"/>
              </a:rPr>
              <a:t>,</a:t>
            </a:r>
            <a:r>
              <a:rPr sz="1950" spc="-30" baseline="12820" dirty="0">
                <a:latin typeface="Cambria Math"/>
                <a:cs typeface="Cambria Math"/>
              </a:rPr>
              <a:t> 𝐴</a:t>
            </a:r>
            <a:r>
              <a:rPr sz="950" spc="-20" dirty="0">
                <a:latin typeface="Cambria Math"/>
                <a:cs typeface="Cambria Math"/>
              </a:rPr>
              <a:t>𝑡−𝑙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7620" y="15514930"/>
            <a:ext cx="13239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Cambria Math"/>
                <a:cs typeface="Cambria Math"/>
              </a:rPr>
              <a:t>,</a:t>
            </a:r>
            <a:r>
              <a:rPr sz="1300" spc="-9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𝑙)</a:t>
            </a:r>
            <a:r>
              <a:rPr sz="1300" spc="280" dirty="0">
                <a:latin typeface="Cambria Math"/>
                <a:cs typeface="Cambria Math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Equation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(2).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3386" y="223592"/>
            <a:ext cx="8381365" cy="164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7465" marR="30480" algn="ctr">
              <a:lnSpc>
                <a:spcPct val="100000"/>
              </a:lnSpc>
              <a:spcBef>
                <a:spcPts val="114"/>
              </a:spcBef>
            </a:pPr>
            <a:r>
              <a:rPr sz="3750" b="1" dirty="0">
                <a:solidFill>
                  <a:srgbClr val="4F4F4F"/>
                </a:solidFill>
                <a:latin typeface="Calibri"/>
                <a:cs typeface="Calibri"/>
              </a:rPr>
              <a:t>Quantifying</a:t>
            </a:r>
            <a:r>
              <a:rPr sz="3750" b="1" spc="-2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750" b="1" dirty="0">
                <a:solidFill>
                  <a:srgbClr val="4F4F4F"/>
                </a:solidFill>
                <a:latin typeface="Calibri"/>
                <a:cs typeface="Calibri"/>
              </a:rPr>
              <a:t>the</a:t>
            </a:r>
            <a:r>
              <a:rPr sz="3750" b="1" spc="-1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750" b="1" dirty="0">
                <a:solidFill>
                  <a:srgbClr val="4F4F4F"/>
                </a:solidFill>
                <a:latin typeface="Calibri"/>
                <a:cs typeface="Calibri"/>
              </a:rPr>
              <a:t>synergy</a:t>
            </a:r>
            <a:r>
              <a:rPr sz="3750" b="1" spc="-7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750" b="1" dirty="0">
                <a:solidFill>
                  <a:srgbClr val="4F4F4F"/>
                </a:solidFill>
                <a:latin typeface="Calibri"/>
                <a:cs typeface="Calibri"/>
              </a:rPr>
              <a:t>of</a:t>
            </a:r>
            <a:r>
              <a:rPr sz="3750" b="1" spc="-4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750" b="1" spc="-10" dirty="0">
                <a:solidFill>
                  <a:srgbClr val="4F4F4F"/>
                </a:solidFill>
                <a:latin typeface="Calibri"/>
                <a:cs typeface="Calibri"/>
              </a:rPr>
              <a:t>environmental </a:t>
            </a:r>
            <a:r>
              <a:rPr sz="3750" b="1" dirty="0">
                <a:solidFill>
                  <a:srgbClr val="4F4F4F"/>
                </a:solidFill>
                <a:latin typeface="Calibri"/>
                <a:cs typeface="Calibri"/>
              </a:rPr>
              <a:t>stressors</a:t>
            </a:r>
            <a:r>
              <a:rPr sz="3750" b="1" spc="-10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750" b="1" dirty="0">
                <a:solidFill>
                  <a:srgbClr val="4F4F4F"/>
                </a:solidFill>
                <a:latin typeface="Calibri"/>
                <a:cs typeface="Calibri"/>
              </a:rPr>
              <a:t>on</a:t>
            </a:r>
            <a:r>
              <a:rPr sz="3750" b="1" spc="-1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750" b="1" dirty="0">
                <a:solidFill>
                  <a:srgbClr val="4F4F4F"/>
                </a:solidFill>
                <a:latin typeface="Calibri"/>
                <a:cs typeface="Calibri"/>
              </a:rPr>
              <a:t>human</a:t>
            </a:r>
            <a:r>
              <a:rPr sz="3750" b="1" spc="-10" dirty="0">
                <a:solidFill>
                  <a:srgbClr val="4F4F4F"/>
                </a:solidFill>
                <a:latin typeface="Calibri"/>
                <a:cs typeface="Calibri"/>
              </a:rPr>
              <a:t> mortality</a:t>
            </a:r>
            <a:endParaRPr sz="3750" dirty="0">
              <a:latin typeface="Calibri"/>
              <a:cs typeface="Calibri"/>
            </a:endParaRPr>
          </a:p>
          <a:p>
            <a:pPr marR="2540" algn="ctr">
              <a:lnSpc>
                <a:spcPct val="100000"/>
              </a:lnSpc>
              <a:spcBef>
                <a:spcPts val="1525"/>
              </a:spcBef>
            </a:pPr>
            <a:r>
              <a:rPr sz="1850" dirty="0">
                <a:latin typeface="Calibri"/>
                <a:cs typeface="Calibri"/>
              </a:rPr>
              <a:t>Theo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Economou</a:t>
            </a:r>
            <a:r>
              <a:rPr sz="1875" baseline="24444" dirty="0">
                <a:latin typeface="Calibri"/>
                <a:cs typeface="Calibri"/>
              </a:rPr>
              <a:t>1</a:t>
            </a:r>
            <a:r>
              <a:rPr sz="1850" dirty="0">
                <a:latin typeface="Calibri"/>
                <a:cs typeface="Calibri"/>
              </a:rPr>
              <a:t>,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Daphne</a:t>
            </a:r>
            <a:r>
              <a:rPr sz="1850" spc="-2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Parliari</a:t>
            </a:r>
            <a:r>
              <a:rPr sz="1875" baseline="24444" dirty="0">
                <a:latin typeface="Calibri"/>
                <a:cs typeface="Calibri"/>
              </a:rPr>
              <a:t>2</a:t>
            </a:r>
            <a:r>
              <a:rPr sz="1850" dirty="0">
                <a:latin typeface="Calibri"/>
                <a:cs typeface="Calibri"/>
              </a:rPr>
              <a:t>,</a:t>
            </a:r>
            <a:r>
              <a:rPr sz="1850" spc="12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Jonilda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Kushta</a:t>
            </a:r>
            <a:r>
              <a:rPr sz="1875" baseline="24444" dirty="0">
                <a:latin typeface="Calibri"/>
                <a:cs typeface="Calibri"/>
              </a:rPr>
              <a:t>1</a:t>
            </a:r>
            <a:r>
              <a:rPr sz="1875" spc="-30" baseline="2444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and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Jos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Lelieveld</a:t>
            </a:r>
            <a:r>
              <a:rPr sz="1875" spc="-15" baseline="24444" dirty="0">
                <a:latin typeface="Calibri"/>
                <a:cs typeface="Calibri"/>
              </a:rPr>
              <a:t>1,3</a:t>
            </a:r>
            <a:endParaRPr sz="1875" baseline="24444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3468" y="2101197"/>
            <a:ext cx="3978275" cy="669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35685" indent="-17526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1035685" algn="l"/>
              </a:tabLst>
            </a:pPr>
            <a:r>
              <a:rPr sz="1400" dirty="0">
                <a:latin typeface="Calibri"/>
                <a:cs typeface="Calibri"/>
              </a:rPr>
              <a:t>Author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 </a:t>
            </a:r>
            <a:r>
              <a:rPr sz="1400" spc="-10" dirty="0">
                <a:latin typeface="Calibri"/>
                <a:cs typeface="Calibri"/>
              </a:rPr>
              <a:t>affiliation</a:t>
            </a:r>
            <a:endParaRPr sz="1400">
              <a:latin typeface="Calibri"/>
              <a:cs typeface="Calibri"/>
            </a:endParaRPr>
          </a:p>
          <a:p>
            <a:pPr marL="1004569" indent="-174625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1004569" algn="l"/>
              </a:tabLst>
            </a:pPr>
            <a:r>
              <a:rPr sz="1400" dirty="0">
                <a:latin typeface="Calibri"/>
                <a:cs typeface="Calibri"/>
              </a:rPr>
              <a:t>Mentor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 with </a:t>
            </a:r>
            <a:r>
              <a:rPr sz="1400" spc="-10" dirty="0">
                <a:latin typeface="Calibri"/>
                <a:cs typeface="Calibri"/>
              </a:rPr>
              <a:t>Affiliation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187325" algn="l"/>
              </a:tabLst>
            </a:pPr>
            <a:r>
              <a:rPr sz="1400" dirty="0">
                <a:latin typeface="Calibri"/>
                <a:cs typeface="Calibri"/>
              </a:rPr>
              <a:t>Max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Planck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Institute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Chemistry,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Mainz,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Germany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392" y="3763072"/>
            <a:ext cx="6387465" cy="393700"/>
          </a:xfrm>
          <a:custGeom>
            <a:avLst/>
            <a:gdLst/>
            <a:ahLst/>
            <a:cxnLst/>
            <a:rect l="l" t="t" r="r" b="b"/>
            <a:pathLst>
              <a:path w="6387465" h="393700">
                <a:moveTo>
                  <a:pt x="6281257" y="0"/>
                </a:moveTo>
                <a:lnTo>
                  <a:pt x="92679" y="0"/>
                </a:lnTo>
                <a:lnTo>
                  <a:pt x="56604" y="7273"/>
                </a:lnTo>
                <a:lnTo>
                  <a:pt x="27145" y="27114"/>
                </a:lnTo>
                <a:lnTo>
                  <a:pt x="7283" y="56559"/>
                </a:lnTo>
                <a:lnTo>
                  <a:pt x="0" y="92641"/>
                </a:lnTo>
                <a:lnTo>
                  <a:pt x="0" y="287832"/>
                </a:lnTo>
                <a:lnTo>
                  <a:pt x="8305" y="328987"/>
                </a:lnTo>
                <a:lnTo>
                  <a:pt x="30957" y="362610"/>
                </a:lnTo>
                <a:lnTo>
                  <a:pt x="64554" y="385288"/>
                </a:lnTo>
                <a:lnTo>
                  <a:pt x="105700" y="393605"/>
                </a:lnTo>
                <a:lnTo>
                  <a:pt x="6294258" y="393605"/>
                </a:lnTo>
                <a:lnTo>
                  <a:pt x="6330325" y="386314"/>
                </a:lnTo>
                <a:lnTo>
                  <a:pt x="6359784" y="366431"/>
                </a:lnTo>
                <a:lnTo>
                  <a:pt x="6379649" y="336945"/>
                </a:lnTo>
                <a:lnTo>
                  <a:pt x="6386935" y="300845"/>
                </a:lnTo>
                <a:lnTo>
                  <a:pt x="6386935" y="105653"/>
                </a:lnTo>
                <a:lnTo>
                  <a:pt x="6378624" y="64517"/>
                </a:lnTo>
                <a:lnTo>
                  <a:pt x="6355965" y="30935"/>
                </a:lnTo>
                <a:lnTo>
                  <a:pt x="6322372" y="8298"/>
                </a:lnTo>
                <a:lnTo>
                  <a:pt x="6281257" y="0"/>
                </a:lnTo>
                <a:close/>
              </a:path>
            </a:pathLst>
          </a:custGeom>
          <a:solidFill>
            <a:srgbClr val="B3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49376" y="3777875"/>
            <a:ext cx="138112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445" y="4295169"/>
            <a:ext cx="6404828" cy="424858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48281" y="4356098"/>
            <a:ext cx="6183630" cy="425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3355" marR="5080" indent="-161290">
              <a:lnSpc>
                <a:spcPct val="101600"/>
              </a:lnSpc>
              <a:spcBef>
                <a:spcPts val="75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Understanding</a:t>
            </a:r>
            <a:r>
              <a:rPr sz="1300" spc="1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effect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1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environmental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stressors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human</a:t>
            </a:r>
            <a:r>
              <a:rPr sz="1300" spc="1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mortality</a:t>
            </a:r>
            <a:r>
              <a:rPr sz="1300" spc="1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1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done </a:t>
            </a:r>
            <a:r>
              <a:rPr sz="1300" dirty="0">
                <a:latin typeface="Calibri"/>
                <a:cs typeface="Calibri"/>
              </a:rPr>
              <a:t>using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statistical</a:t>
            </a:r>
            <a:r>
              <a:rPr sz="13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modelling</a:t>
            </a:r>
            <a:r>
              <a:rPr sz="13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relevant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data.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2881" y="4901798"/>
            <a:ext cx="58362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25" indent="-16192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Char char="○"/>
              <a:tabLst>
                <a:tab pos="200025" algn="l"/>
              </a:tabLst>
            </a:pPr>
            <a:r>
              <a:rPr sz="1300" dirty="0">
                <a:latin typeface="Calibri"/>
                <a:cs typeface="Calibri"/>
              </a:rPr>
              <a:t>E.g.,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daily</a:t>
            </a:r>
            <a:r>
              <a:rPr sz="13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mortality</a:t>
            </a:r>
            <a:r>
              <a:rPr sz="13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counts</a:t>
            </a:r>
            <a:r>
              <a:rPr sz="13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𝑀</a:t>
            </a:r>
            <a:r>
              <a:rPr sz="1425" baseline="-17543" dirty="0">
                <a:latin typeface="Cambria Math"/>
                <a:cs typeface="Cambria Math"/>
              </a:rPr>
              <a:t>𝑡</a:t>
            </a:r>
            <a:r>
              <a:rPr sz="1425" spc="254" baseline="-17543" dirty="0">
                <a:latin typeface="Cambria Math"/>
                <a:cs typeface="Cambria Math"/>
              </a:rPr>
              <a:t> </a:t>
            </a:r>
            <a:r>
              <a:rPr sz="1300" dirty="0">
                <a:latin typeface="Calibri"/>
                <a:cs typeface="Calibri"/>
              </a:rPr>
              <a:t>(for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day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𝑡</a:t>
            </a:r>
            <a:r>
              <a:rPr sz="1300" dirty="0">
                <a:latin typeface="Calibri"/>
                <a:cs typeface="Calibri"/>
              </a:rPr>
              <a:t>)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max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daily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apparent</a:t>
            </a:r>
            <a:r>
              <a:rPr sz="13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temperature</a:t>
            </a:r>
            <a:r>
              <a:rPr sz="13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latin typeface="Cambria Math"/>
                <a:cs typeface="Cambria Math"/>
              </a:rPr>
              <a:t>𝑇</a:t>
            </a:r>
            <a:r>
              <a:rPr sz="1425" spc="-37" baseline="-17543" dirty="0">
                <a:latin typeface="Cambria Math"/>
                <a:cs typeface="Cambria Math"/>
              </a:rPr>
              <a:t>𝑡</a:t>
            </a:r>
            <a:r>
              <a:rPr sz="1300" spc="-25" dirty="0"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8281" y="5241681"/>
            <a:ext cx="5695315" cy="425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3355" marR="5080" indent="-161290">
              <a:lnSpc>
                <a:spcPct val="101600"/>
              </a:lnSpc>
              <a:spcBef>
                <a:spcPts val="75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allow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60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aggregated</a:t>
            </a:r>
            <a:r>
              <a:rPr sz="13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effect</a:t>
            </a:r>
            <a:r>
              <a:rPr sz="13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environmental</a:t>
            </a:r>
            <a:r>
              <a:rPr sz="1300" spc="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stress</a:t>
            </a:r>
            <a:r>
              <a:rPr sz="1300" spc="90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over</a:t>
            </a:r>
            <a:r>
              <a:rPr sz="13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period</a:t>
            </a:r>
            <a:r>
              <a:rPr sz="13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3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1300" spc="-10" dirty="0">
                <a:latin typeface="Calibri"/>
                <a:cs typeface="Calibri"/>
              </a:rPr>
              <a:t>, </a:t>
            </a:r>
            <a:r>
              <a:rPr sz="1300" dirty="0">
                <a:latin typeface="Calibri"/>
                <a:cs typeface="Calibri"/>
              </a:rPr>
              <a:t>regression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models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called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Distributed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Lag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Models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(DLMs)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have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been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proposed: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7697" y="5845666"/>
            <a:ext cx="12839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Cambria Math"/>
                <a:cs typeface="Cambria Math"/>
              </a:rPr>
              <a:t>𝑀</a:t>
            </a:r>
            <a:r>
              <a:rPr sz="1425" baseline="-17543" dirty="0">
                <a:latin typeface="Cambria Math"/>
                <a:cs typeface="Cambria Math"/>
              </a:rPr>
              <a:t>𝑡</a:t>
            </a:r>
            <a:r>
              <a:rPr sz="1425" spc="345" baseline="-17543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∼</a:t>
            </a:r>
            <a:r>
              <a:rPr sz="1300" spc="70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𝑃𝑜𝑖𝑠𝑠𝑜𝑛</a:t>
            </a:r>
            <a:r>
              <a:rPr sz="1300" spc="280" dirty="0">
                <a:latin typeface="Cambria Math"/>
                <a:cs typeface="Cambria Math"/>
              </a:rPr>
              <a:t> </a:t>
            </a:r>
            <a:r>
              <a:rPr sz="1300" spc="-25" dirty="0">
                <a:latin typeface="Cambria Math"/>
                <a:cs typeface="Cambria Math"/>
              </a:rPr>
              <a:t>𝜇</a:t>
            </a:r>
            <a:r>
              <a:rPr sz="1425" spc="-37" baseline="-17543" dirty="0">
                <a:latin typeface="Cambria Math"/>
                <a:cs typeface="Cambria Math"/>
              </a:rPr>
              <a:t>𝑡</a:t>
            </a:r>
            <a:endParaRPr sz="1425" baseline="-17543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2881" y="6386923"/>
            <a:ext cx="5862955" cy="6267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8755" marR="30480" indent="-161290">
              <a:lnSpc>
                <a:spcPct val="101600"/>
              </a:lnSpc>
              <a:spcBef>
                <a:spcPts val="75"/>
              </a:spcBef>
              <a:buClr>
                <a:srgbClr val="C00000"/>
              </a:buClr>
              <a:buChar char="○"/>
              <a:tabLst>
                <a:tab pos="198755" algn="l"/>
              </a:tabLst>
            </a:pPr>
            <a:r>
              <a:rPr sz="1300" dirty="0">
                <a:latin typeface="Calibri"/>
                <a:cs typeface="Calibri"/>
              </a:rPr>
              <a:t>where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coefficients</a:t>
            </a:r>
            <a:r>
              <a:rPr sz="1300" spc="90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𝛽</a:t>
            </a:r>
            <a:r>
              <a:rPr sz="1425" baseline="-17543" dirty="0">
                <a:latin typeface="Cambria Math"/>
                <a:cs typeface="Cambria Math"/>
              </a:rPr>
              <a:t>𝑡−𝑙</a:t>
            </a:r>
            <a:r>
              <a:rPr sz="1425" spc="247" baseline="-17543" dirty="0">
                <a:latin typeface="Cambria Math"/>
                <a:cs typeface="Cambria Math"/>
              </a:rPr>
              <a:t> </a:t>
            </a:r>
            <a:r>
              <a:rPr sz="1300" dirty="0">
                <a:latin typeface="Calibri"/>
                <a:cs typeface="Calibri"/>
              </a:rPr>
              <a:t>are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contribution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mean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mortality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count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𝜇</a:t>
            </a:r>
            <a:r>
              <a:rPr sz="1425" baseline="-17543" dirty="0">
                <a:latin typeface="Cambria Math"/>
                <a:cs typeface="Cambria Math"/>
              </a:rPr>
              <a:t>𝑡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from </a:t>
            </a:r>
            <a:r>
              <a:rPr sz="1300" dirty="0">
                <a:latin typeface="Calibri"/>
                <a:cs typeface="Calibri"/>
              </a:rPr>
              <a:t>temperature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𝑇</a:t>
            </a:r>
            <a:r>
              <a:rPr sz="1425" baseline="-17543" dirty="0">
                <a:latin typeface="Cambria Math"/>
                <a:cs typeface="Cambria Math"/>
              </a:rPr>
              <a:t>𝑡−𝑙</a:t>
            </a:r>
            <a:r>
              <a:rPr sz="1425" spc="209" baseline="-17543" dirty="0">
                <a:latin typeface="Cambria Math"/>
                <a:cs typeface="Cambria Math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day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𝑡</a:t>
            </a:r>
            <a:r>
              <a:rPr sz="1300" spc="-3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− 𝑙</a:t>
            </a:r>
            <a:r>
              <a:rPr sz="1300" spc="25" dirty="0">
                <a:latin typeface="Cambria Math"/>
                <a:cs typeface="Cambria Math"/>
              </a:rPr>
              <a:t> </a:t>
            </a:r>
            <a:r>
              <a:rPr sz="1300" dirty="0">
                <a:latin typeface="Calibri"/>
                <a:cs typeface="Calibri"/>
              </a:rPr>
              <a:t>(</a:t>
            </a:r>
            <a:r>
              <a:rPr sz="1300" dirty="0">
                <a:latin typeface="Cambria Math"/>
                <a:cs typeface="Cambria Math"/>
              </a:rPr>
              <a:t>𝑡 </a:t>
            </a:r>
            <a:r>
              <a:rPr sz="1300" dirty="0">
                <a:latin typeface="Calibri"/>
                <a:cs typeface="Calibri"/>
              </a:rPr>
              <a:t>being</a:t>
            </a:r>
            <a:r>
              <a:rPr sz="1300" spc="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“today”).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Extension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Distributed</a:t>
            </a:r>
            <a:r>
              <a:rPr sz="13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Lag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00000"/>
                </a:solidFill>
                <a:latin typeface="Calibri"/>
                <a:cs typeface="Calibri"/>
              </a:rPr>
              <a:t>Non-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Linear</a:t>
            </a:r>
            <a:r>
              <a:rPr sz="13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r>
              <a:rPr sz="13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DLNMs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(Gasparrrini,</a:t>
            </a:r>
            <a:r>
              <a:rPr sz="1300" spc="1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2010)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allows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non-</a:t>
            </a:r>
            <a:r>
              <a:rPr sz="1300" dirty="0">
                <a:latin typeface="Calibri"/>
                <a:cs typeface="Calibri"/>
              </a:rPr>
              <a:t>linear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effect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from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30" dirty="0">
                <a:latin typeface="Cambria Math"/>
                <a:cs typeface="Cambria Math"/>
              </a:rPr>
              <a:t>𝑇</a:t>
            </a:r>
            <a:r>
              <a:rPr sz="1425" spc="-44" baseline="-17543" dirty="0">
                <a:latin typeface="Cambria Math"/>
                <a:cs typeface="Cambria Math"/>
              </a:rPr>
              <a:t>𝑡−𝑙</a:t>
            </a:r>
            <a:r>
              <a:rPr sz="1425" spc="-135" baseline="-17543" dirty="0">
                <a:latin typeface="Cambria Math"/>
                <a:cs typeface="Cambria Math"/>
              </a:rPr>
              <a:t> </a:t>
            </a:r>
            <a:r>
              <a:rPr sz="1300" spc="-50" dirty="0">
                <a:latin typeface="Calibri"/>
                <a:cs typeface="Calibri"/>
              </a:rPr>
              <a:t>: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7481" y="7532044"/>
            <a:ext cx="593280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 indent="-16192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Char char="○"/>
              <a:tabLst>
                <a:tab pos="225425" algn="l"/>
                <a:tab pos="2340610" algn="l"/>
              </a:tabLst>
            </a:pPr>
            <a:r>
              <a:rPr sz="1300" dirty="0">
                <a:latin typeface="Calibri"/>
                <a:cs typeface="Calibri"/>
              </a:rPr>
              <a:t>The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expression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exp</a:t>
            </a:r>
            <a:r>
              <a:rPr sz="1300" spc="204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𝑓</a:t>
            </a:r>
            <a:r>
              <a:rPr sz="1300" spc="275" dirty="0">
                <a:latin typeface="Cambria Math"/>
                <a:cs typeface="Cambria Math"/>
              </a:rPr>
              <a:t> </a:t>
            </a:r>
            <a:r>
              <a:rPr sz="1300" spc="-20" dirty="0">
                <a:latin typeface="Cambria Math"/>
                <a:cs typeface="Cambria Math"/>
              </a:rPr>
              <a:t>𝑇</a:t>
            </a:r>
            <a:r>
              <a:rPr sz="1425" spc="-30" baseline="-17543" dirty="0">
                <a:latin typeface="Cambria Math"/>
                <a:cs typeface="Cambria Math"/>
              </a:rPr>
              <a:t>𝑡−𝑙</a:t>
            </a:r>
            <a:r>
              <a:rPr sz="1425" spc="-135" baseline="-17543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,</a:t>
            </a:r>
            <a:r>
              <a:rPr sz="1300" spc="-100" dirty="0">
                <a:latin typeface="Cambria Math"/>
                <a:cs typeface="Cambria Math"/>
              </a:rPr>
              <a:t> </a:t>
            </a:r>
            <a:r>
              <a:rPr sz="1300" spc="-50" dirty="0">
                <a:latin typeface="Cambria Math"/>
                <a:cs typeface="Cambria Math"/>
              </a:rPr>
              <a:t>𝑙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interpreted</a:t>
            </a:r>
            <a:r>
              <a:rPr sz="1300" spc="1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relative risk</a:t>
            </a:r>
            <a:r>
              <a:rPr sz="13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(RR)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interpreted</a:t>
            </a:r>
            <a:r>
              <a:rPr sz="1300" spc="11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as</a:t>
            </a:r>
            <a:endParaRPr sz="1300">
              <a:latin typeface="Calibri"/>
              <a:cs typeface="Calibri"/>
            </a:endParaRPr>
          </a:p>
          <a:p>
            <a:pPr marL="476884" lvl="1" indent="-198755">
              <a:lnSpc>
                <a:spcPct val="100000"/>
              </a:lnSpc>
              <a:spcBef>
                <a:spcPts val="1155"/>
              </a:spcBef>
              <a:buClr>
                <a:srgbClr val="C00000"/>
              </a:buClr>
              <a:buChar char="○"/>
              <a:tabLst>
                <a:tab pos="476884" algn="l"/>
              </a:tabLst>
            </a:pPr>
            <a:r>
              <a:rPr sz="1300" dirty="0">
                <a:latin typeface="Calibri"/>
                <a:cs typeface="Calibri"/>
              </a:rPr>
              <a:t>RR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=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1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means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mortality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risk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equal</a:t>
            </a:r>
            <a:r>
              <a:rPr sz="1300" spc="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mean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mortality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count,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dirty="0">
                <a:latin typeface="Cambria Math"/>
                <a:cs typeface="Cambria Math"/>
              </a:rPr>
              <a:t>exp</a:t>
            </a:r>
            <a:r>
              <a:rPr sz="1300" spc="17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𝛼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1300" spc="-50" dirty="0">
                <a:latin typeface="Calibri"/>
                <a:cs typeface="Calibri"/>
              </a:rPr>
              <a:t>;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2966" y="8220778"/>
            <a:ext cx="48990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Char char="○"/>
              <a:tabLst>
                <a:tab pos="174625" algn="l"/>
              </a:tabLst>
            </a:pPr>
            <a:r>
              <a:rPr sz="1300" dirty="0">
                <a:latin typeface="Calibri"/>
                <a:cs typeface="Calibri"/>
              </a:rPr>
              <a:t>RR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&gt;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1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RR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&lt;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1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means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higher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lower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risk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than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average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respectively.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7607" y="295556"/>
            <a:ext cx="1319433" cy="11719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96839" y="13378530"/>
            <a:ext cx="2345982" cy="188014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982678" y="15260891"/>
            <a:ext cx="2665730" cy="5416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110"/>
              </a:spcBef>
            </a:pPr>
            <a:r>
              <a:rPr sz="1100" b="1" dirty="0">
                <a:latin typeface="Calibri"/>
                <a:cs typeface="Calibri"/>
              </a:rPr>
              <a:t>Figure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2.</a:t>
            </a:r>
            <a:r>
              <a:rPr sz="1100" b="1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Apparent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temperature as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function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air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temperature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relative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humidity.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1100" b="1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source:</a:t>
            </a:r>
            <a:r>
              <a:rPr sz="1100" b="1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Diffey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(2018)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7813" y="8731543"/>
            <a:ext cx="6391910" cy="398145"/>
          </a:xfrm>
          <a:custGeom>
            <a:avLst/>
            <a:gdLst/>
            <a:ahLst/>
            <a:cxnLst/>
            <a:rect l="l" t="t" r="r" b="b"/>
            <a:pathLst>
              <a:path w="6391909" h="398145">
                <a:moveTo>
                  <a:pt x="6284526" y="0"/>
                </a:moveTo>
                <a:lnTo>
                  <a:pt x="93733" y="0"/>
                </a:lnTo>
                <a:lnTo>
                  <a:pt x="57246" y="7369"/>
                </a:lnTo>
                <a:lnTo>
                  <a:pt x="27451" y="27464"/>
                </a:lnTo>
                <a:lnTo>
                  <a:pt x="7365" y="57264"/>
                </a:lnTo>
                <a:lnTo>
                  <a:pt x="0" y="93751"/>
                </a:lnTo>
                <a:lnTo>
                  <a:pt x="0" y="291151"/>
                </a:lnTo>
                <a:lnTo>
                  <a:pt x="8399" y="332762"/>
                </a:lnTo>
                <a:lnTo>
                  <a:pt x="31307" y="366749"/>
                </a:lnTo>
                <a:lnTo>
                  <a:pt x="65285" y="389666"/>
                </a:lnTo>
                <a:lnTo>
                  <a:pt x="106894" y="398070"/>
                </a:lnTo>
                <a:lnTo>
                  <a:pt x="6297646" y="398070"/>
                </a:lnTo>
                <a:lnTo>
                  <a:pt x="6334133" y="390701"/>
                </a:lnTo>
                <a:lnTo>
                  <a:pt x="6363933" y="370606"/>
                </a:lnTo>
                <a:lnTo>
                  <a:pt x="6384028" y="340806"/>
                </a:lnTo>
                <a:lnTo>
                  <a:pt x="6391397" y="304319"/>
                </a:lnTo>
                <a:lnTo>
                  <a:pt x="6391397" y="106931"/>
                </a:lnTo>
                <a:lnTo>
                  <a:pt x="6382994" y="65317"/>
                </a:lnTo>
                <a:lnTo>
                  <a:pt x="6360082" y="31327"/>
                </a:lnTo>
                <a:lnTo>
                  <a:pt x="6326109" y="8406"/>
                </a:lnTo>
                <a:lnTo>
                  <a:pt x="6284526" y="0"/>
                </a:lnTo>
                <a:close/>
              </a:path>
            </a:pathLst>
          </a:custGeom>
          <a:solidFill>
            <a:srgbClr val="B3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805539" y="8748960"/>
            <a:ext cx="149542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362" y="10493588"/>
            <a:ext cx="4364931" cy="275189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970835" y="10458758"/>
            <a:ext cx="1709420" cy="2604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76200">
              <a:lnSpc>
                <a:spcPct val="102600"/>
              </a:lnSpc>
              <a:spcBef>
                <a:spcPts val="90"/>
              </a:spcBef>
            </a:pPr>
            <a:r>
              <a:rPr sz="1100" b="1" dirty="0">
                <a:latin typeface="Calibri"/>
                <a:cs typeface="Calibri"/>
              </a:rPr>
              <a:t>Figure 1.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Relative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mortality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(red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means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&gt;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1,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blue </a:t>
            </a:r>
            <a:r>
              <a:rPr sz="1100" dirty="0">
                <a:latin typeface="Calibri"/>
                <a:cs typeface="Calibri"/>
              </a:rPr>
              <a:t>indicates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&lt;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1)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function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apparent </a:t>
            </a:r>
            <a:r>
              <a:rPr sz="1100" dirty="0">
                <a:latin typeface="Calibri"/>
                <a:cs typeface="Calibri"/>
              </a:rPr>
              <a:t>temperature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its </a:t>
            </a:r>
            <a:r>
              <a:rPr sz="1100" dirty="0">
                <a:latin typeface="Calibri"/>
                <a:cs typeface="Calibri"/>
              </a:rPr>
              <a:t>temporal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lags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(days).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Grey </a:t>
            </a:r>
            <a:r>
              <a:rPr sz="1100" dirty="0">
                <a:latin typeface="Calibri"/>
                <a:cs typeface="Calibri"/>
              </a:rPr>
              <a:t>dots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indicate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regions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where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relative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is </a:t>
            </a:r>
            <a:r>
              <a:rPr sz="1100" dirty="0">
                <a:latin typeface="Calibri"/>
                <a:cs typeface="Calibri"/>
              </a:rPr>
              <a:t>(statistically)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significantly </a:t>
            </a:r>
            <a:r>
              <a:rPr sz="1100" dirty="0">
                <a:latin typeface="Calibri"/>
                <a:cs typeface="Calibri"/>
              </a:rPr>
              <a:t>greater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lower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1.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Black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dots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temporal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trajectory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hot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2699"/>
              </a:lnSpc>
              <a:spcBef>
                <a:spcPts val="15"/>
              </a:spcBef>
            </a:pPr>
            <a:r>
              <a:rPr sz="1100" dirty="0">
                <a:latin typeface="Calibri"/>
                <a:cs typeface="Calibri"/>
              </a:rPr>
              <a:t>day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(24/Jul/2007)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while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stars </a:t>
            </a:r>
            <a:r>
              <a:rPr sz="1100" dirty="0">
                <a:latin typeface="Calibri"/>
                <a:cs typeface="Calibri"/>
              </a:rPr>
              <a:t>indicate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trajectory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cold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day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(09/Feb/2006).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7012" y="16182069"/>
            <a:ext cx="6387465" cy="398145"/>
          </a:xfrm>
          <a:custGeom>
            <a:avLst/>
            <a:gdLst/>
            <a:ahLst/>
            <a:cxnLst/>
            <a:rect l="l" t="t" r="r" b="b"/>
            <a:pathLst>
              <a:path w="6387465" h="398144">
                <a:moveTo>
                  <a:pt x="6280000" y="0"/>
                </a:moveTo>
                <a:lnTo>
                  <a:pt x="93733" y="0"/>
                </a:lnTo>
                <a:lnTo>
                  <a:pt x="57246" y="7369"/>
                </a:lnTo>
                <a:lnTo>
                  <a:pt x="27451" y="27462"/>
                </a:lnTo>
                <a:lnTo>
                  <a:pt x="7365" y="57259"/>
                </a:lnTo>
                <a:lnTo>
                  <a:pt x="0" y="93739"/>
                </a:lnTo>
                <a:lnTo>
                  <a:pt x="0" y="291139"/>
                </a:lnTo>
                <a:lnTo>
                  <a:pt x="8399" y="332750"/>
                </a:lnTo>
                <a:lnTo>
                  <a:pt x="31307" y="366737"/>
                </a:lnTo>
                <a:lnTo>
                  <a:pt x="65285" y="389654"/>
                </a:lnTo>
                <a:lnTo>
                  <a:pt x="106894" y="398058"/>
                </a:lnTo>
                <a:lnTo>
                  <a:pt x="6293180" y="398058"/>
                </a:lnTo>
                <a:lnTo>
                  <a:pt x="6329666" y="390691"/>
                </a:lnTo>
                <a:lnTo>
                  <a:pt x="6359467" y="370600"/>
                </a:lnTo>
                <a:lnTo>
                  <a:pt x="6379562" y="340804"/>
                </a:lnTo>
                <a:lnTo>
                  <a:pt x="6386931" y="304319"/>
                </a:lnTo>
                <a:lnTo>
                  <a:pt x="6386931" y="106931"/>
                </a:lnTo>
                <a:lnTo>
                  <a:pt x="6378525" y="65312"/>
                </a:lnTo>
                <a:lnTo>
                  <a:pt x="6355603" y="31323"/>
                </a:lnTo>
                <a:lnTo>
                  <a:pt x="6321613" y="8404"/>
                </a:lnTo>
                <a:lnTo>
                  <a:pt x="6280000" y="0"/>
                </a:lnTo>
                <a:close/>
              </a:path>
            </a:pathLst>
          </a:custGeom>
          <a:solidFill>
            <a:srgbClr val="B3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16191" y="16199696"/>
            <a:ext cx="4958715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-35" dirty="0">
                <a:solidFill>
                  <a:srgbClr val="FFFFFF"/>
                </a:solidFill>
                <a:latin typeface="Arial"/>
                <a:cs typeface="Arial"/>
              </a:rPr>
              <a:t>Compound</a:t>
            </a:r>
            <a:r>
              <a:rPr sz="18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effect</a:t>
            </a:r>
            <a:r>
              <a:rPr sz="18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8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heat</a:t>
            </a:r>
            <a:r>
              <a:rPr sz="18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air</a:t>
            </a:r>
            <a:r>
              <a:rPr sz="18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pollution</a:t>
            </a:r>
            <a:endParaRPr sz="18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514026" y="3763072"/>
            <a:ext cx="6387465" cy="11560810"/>
          </a:xfrm>
          <a:custGeom>
            <a:avLst/>
            <a:gdLst/>
            <a:ahLst/>
            <a:cxnLst/>
            <a:rect l="l" t="t" r="r" b="b"/>
            <a:pathLst>
              <a:path w="6387465" h="11560810">
                <a:moveTo>
                  <a:pt x="0" y="160570"/>
                </a:moveTo>
                <a:lnTo>
                  <a:pt x="8183" y="109809"/>
                </a:lnTo>
                <a:lnTo>
                  <a:pt x="30973" y="65730"/>
                </a:lnTo>
                <a:lnTo>
                  <a:pt x="65725" y="30974"/>
                </a:lnTo>
                <a:lnTo>
                  <a:pt x="109797" y="8183"/>
                </a:lnTo>
                <a:lnTo>
                  <a:pt x="160546" y="0"/>
                </a:lnTo>
                <a:lnTo>
                  <a:pt x="6226719" y="0"/>
                </a:lnTo>
                <a:lnTo>
                  <a:pt x="6277480" y="8183"/>
                </a:lnTo>
                <a:lnTo>
                  <a:pt x="6321559" y="30974"/>
                </a:lnTo>
                <a:lnTo>
                  <a:pt x="6356315" y="65730"/>
                </a:lnTo>
                <a:lnTo>
                  <a:pt x="6379105" y="109809"/>
                </a:lnTo>
                <a:lnTo>
                  <a:pt x="6387289" y="160570"/>
                </a:lnTo>
                <a:lnTo>
                  <a:pt x="6387289" y="11399895"/>
                </a:lnTo>
                <a:lnTo>
                  <a:pt x="6379105" y="11450614"/>
                </a:lnTo>
                <a:lnTo>
                  <a:pt x="6356315" y="11494666"/>
                </a:lnTo>
                <a:lnTo>
                  <a:pt x="6321559" y="11529405"/>
                </a:lnTo>
                <a:lnTo>
                  <a:pt x="6277480" y="11552188"/>
                </a:lnTo>
                <a:lnTo>
                  <a:pt x="6226719" y="11560370"/>
                </a:lnTo>
                <a:lnTo>
                  <a:pt x="160546" y="11560370"/>
                </a:lnTo>
                <a:lnTo>
                  <a:pt x="109797" y="11552188"/>
                </a:lnTo>
                <a:lnTo>
                  <a:pt x="65725" y="11529405"/>
                </a:lnTo>
                <a:lnTo>
                  <a:pt x="30973" y="11494666"/>
                </a:lnTo>
                <a:lnTo>
                  <a:pt x="8183" y="11450614"/>
                </a:lnTo>
                <a:lnTo>
                  <a:pt x="0" y="11399895"/>
                </a:lnTo>
                <a:lnTo>
                  <a:pt x="0" y="160570"/>
                </a:lnTo>
                <a:close/>
              </a:path>
            </a:pathLst>
          </a:custGeom>
          <a:ln w="1789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636706" y="3830933"/>
            <a:ext cx="2908935" cy="10248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3355" marR="5080" indent="-161290">
              <a:lnSpc>
                <a:spcPct val="101000"/>
              </a:lnSpc>
              <a:spcBef>
                <a:spcPts val="85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To</a:t>
            </a:r>
            <a:r>
              <a:rPr sz="1300" spc="-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better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understand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synergy between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exposures,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lag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dimension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“</a:t>
            </a:r>
            <a:r>
              <a:rPr sz="1300" i="1" dirty="0">
                <a:latin typeface="Calibri"/>
                <a:cs typeface="Calibri"/>
              </a:rPr>
              <a:t>integrated</a:t>
            </a:r>
            <a:r>
              <a:rPr sz="1300" i="1" spc="5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out”</a:t>
            </a:r>
            <a:r>
              <a:rPr sz="1300" i="1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by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summing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risk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along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lags,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different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exposure combinations.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36706" y="5320475"/>
            <a:ext cx="3158490" cy="12261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3355" marR="5080" indent="-161290">
              <a:lnSpc>
                <a:spcPct val="101099"/>
              </a:lnSpc>
              <a:spcBef>
                <a:spcPts val="85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Figure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4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shows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corresponding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cumulative</a:t>
            </a:r>
            <a:r>
              <a:rPr sz="13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risk</a:t>
            </a:r>
            <a:r>
              <a:rPr sz="13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surface</a:t>
            </a:r>
            <a:r>
              <a:rPr sz="13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apparent </a:t>
            </a:r>
            <a:r>
              <a:rPr sz="1300" dirty="0">
                <a:latin typeface="Calibri"/>
                <a:cs typeface="Calibri"/>
              </a:rPr>
              <a:t>temperature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particulate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matter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(PM10)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Thessaloniki,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where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hot-</a:t>
            </a:r>
            <a:r>
              <a:rPr sz="1300" spc="-25" dirty="0">
                <a:latin typeface="Calibri"/>
                <a:cs typeface="Calibri"/>
              </a:rPr>
              <a:t>and-</a:t>
            </a:r>
            <a:r>
              <a:rPr sz="1300" spc="-20" dirty="0">
                <a:latin typeface="Calibri"/>
                <a:cs typeface="Calibri"/>
              </a:rPr>
              <a:t>humid </a:t>
            </a:r>
            <a:r>
              <a:rPr sz="1300" dirty="0">
                <a:latin typeface="Calibri"/>
                <a:cs typeface="Calibri"/>
              </a:rPr>
              <a:t>weather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combined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with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high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PM10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results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enhanced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risk.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36706" y="7006759"/>
            <a:ext cx="2851785" cy="1029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3355" marR="5080" indent="-161290">
              <a:lnSpc>
                <a:spcPct val="101600"/>
              </a:lnSpc>
              <a:spcBef>
                <a:spcPts val="75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To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interpret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estimated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risk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terms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observed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mortality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compute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Attributable</a:t>
            </a:r>
            <a:r>
              <a:rPr sz="13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Fraction</a:t>
            </a:r>
            <a:r>
              <a:rPr sz="1300" b="1" spc="2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̶</a:t>
            </a:r>
            <a:r>
              <a:rPr sz="1300" b="1" spc="2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defined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proportion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death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counts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are </a:t>
            </a:r>
            <a:r>
              <a:rPr sz="1300" dirty="0">
                <a:latin typeface="Calibri"/>
                <a:cs typeface="Calibri"/>
              </a:rPr>
              <a:t>attributed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exposures.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36706" y="8496289"/>
            <a:ext cx="2910840" cy="6267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3355" marR="5080" indent="-161290">
              <a:lnSpc>
                <a:spcPct val="101600"/>
              </a:lnSpc>
              <a:spcBef>
                <a:spcPts val="75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Figure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5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shows 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Attributable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Fraction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3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pollutants:</a:t>
            </a:r>
            <a:r>
              <a:rPr sz="1300" spc="1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PM10, Ozone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(O3) </a:t>
            </a:r>
            <a:r>
              <a:rPr sz="1300" spc="-25" dirty="0">
                <a:latin typeface="Calibri"/>
                <a:cs typeface="Calibri"/>
              </a:rPr>
              <a:t>and </a:t>
            </a:r>
            <a:r>
              <a:rPr sz="1300" dirty="0">
                <a:latin typeface="Calibri"/>
                <a:cs typeface="Calibri"/>
              </a:rPr>
              <a:t>Nitrogen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Dioxide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(NO2).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1306" y="12334226"/>
            <a:ext cx="6088380" cy="8235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8755" marR="30480" indent="-161290">
              <a:lnSpc>
                <a:spcPct val="100800"/>
              </a:lnSpc>
              <a:spcBef>
                <a:spcPts val="90"/>
              </a:spcBef>
              <a:buClr>
                <a:srgbClr val="C00000"/>
              </a:buClr>
              <a:buChar char="○"/>
              <a:tabLst>
                <a:tab pos="198755" algn="l"/>
              </a:tabLst>
            </a:pPr>
            <a:r>
              <a:rPr sz="1300" dirty="0">
                <a:latin typeface="Calibri"/>
                <a:cs typeface="Calibri"/>
              </a:rPr>
              <a:t>We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have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also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quantified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attributable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mortality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fraction by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cause-of-death </a:t>
            </a:r>
            <a:r>
              <a:rPr sz="1300" dirty="0">
                <a:latin typeface="Calibri"/>
                <a:cs typeface="Calibri"/>
              </a:rPr>
              <a:t>(cardiovascular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disease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(CVD),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respiratory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disease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(RD)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elderly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mortality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(&gt;65 </a:t>
            </a:r>
            <a:r>
              <a:rPr sz="1300" dirty="0">
                <a:latin typeface="Calibri"/>
                <a:cs typeface="Calibri"/>
              </a:rPr>
              <a:t>years)).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Figure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6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shows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apparent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temperature</a:t>
            </a:r>
            <a:r>
              <a:rPr sz="1300" spc="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being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between</a:t>
            </a:r>
            <a:r>
              <a:rPr sz="1300" spc="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75</a:t>
            </a:r>
            <a:r>
              <a:rPr sz="1275" baseline="26143" dirty="0">
                <a:latin typeface="Calibri"/>
                <a:cs typeface="Calibri"/>
              </a:rPr>
              <a:t>th</a:t>
            </a:r>
            <a:r>
              <a:rPr sz="1275" spc="89" baseline="26143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99</a:t>
            </a:r>
            <a:r>
              <a:rPr sz="1275" spc="-30" baseline="26143" dirty="0">
                <a:latin typeface="Calibri"/>
                <a:cs typeface="Calibri"/>
              </a:rPr>
              <a:t>th</a:t>
            </a:r>
            <a:r>
              <a:rPr sz="1275" spc="750" baseline="26143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sample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quantile,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increasing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levels of</a:t>
            </a:r>
            <a:r>
              <a:rPr sz="1300" spc="-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3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pollutants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from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Figure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5.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514026" y="18078290"/>
            <a:ext cx="6387465" cy="393700"/>
          </a:xfrm>
          <a:custGeom>
            <a:avLst/>
            <a:gdLst/>
            <a:ahLst/>
            <a:cxnLst/>
            <a:rect l="l" t="t" r="r" b="b"/>
            <a:pathLst>
              <a:path w="6387465" h="393700">
                <a:moveTo>
                  <a:pt x="6281277" y="0"/>
                </a:moveTo>
                <a:lnTo>
                  <a:pt x="92677" y="0"/>
                </a:lnTo>
                <a:lnTo>
                  <a:pt x="56609" y="7276"/>
                </a:lnTo>
                <a:lnTo>
                  <a:pt x="27150" y="27128"/>
                </a:lnTo>
                <a:lnTo>
                  <a:pt x="7285" y="56584"/>
                </a:lnTo>
                <a:lnTo>
                  <a:pt x="0" y="92677"/>
                </a:lnTo>
                <a:lnTo>
                  <a:pt x="0" y="287856"/>
                </a:lnTo>
                <a:lnTo>
                  <a:pt x="8311" y="328971"/>
                </a:lnTo>
                <a:lnTo>
                  <a:pt x="30969" y="362564"/>
                </a:lnTo>
                <a:lnTo>
                  <a:pt x="64562" y="385223"/>
                </a:lnTo>
                <a:lnTo>
                  <a:pt x="105677" y="393534"/>
                </a:lnTo>
                <a:lnTo>
                  <a:pt x="6294290" y="393534"/>
                </a:lnTo>
                <a:lnTo>
                  <a:pt x="6330321" y="386248"/>
                </a:lnTo>
                <a:lnTo>
                  <a:pt x="6359771" y="366383"/>
                </a:lnTo>
                <a:lnTo>
                  <a:pt x="6379641" y="336924"/>
                </a:lnTo>
                <a:lnTo>
                  <a:pt x="6386931" y="300857"/>
                </a:lnTo>
                <a:lnTo>
                  <a:pt x="6386931" y="105677"/>
                </a:lnTo>
                <a:lnTo>
                  <a:pt x="6378615" y="64532"/>
                </a:lnTo>
                <a:lnTo>
                  <a:pt x="6355951" y="30942"/>
                </a:lnTo>
                <a:lnTo>
                  <a:pt x="6322364" y="8301"/>
                </a:lnTo>
                <a:lnTo>
                  <a:pt x="6281277" y="0"/>
                </a:lnTo>
                <a:close/>
              </a:path>
            </a:pathLst>
          </a:custGeom>
          <a:solidFill>
            <a:srgbClr val="B3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14026" y="18574695"/>
            <a:ext cx="6387465" cy="1485265"/>
          </a:xfrm>
          <a:custGeom>
            <a:avLst/>
            <a:gdLst/>
            <a:ahLst/>
            <a:cxnLst/>
            <a:rect l="l" t="t" r="r" b="b"/>
            <a:pathLst>
              <a:path w="6387465" h="1485265">
                <a:moveTo>
                  <a:pt x="0" y="37259"/>
                </a:moveTo>
                <a:lnTo>
                  <a:pt x="2931" y="22759"/>
                </a:lnTo>
                <a:lnTo>
                  <a:pt x="10929" y="10916"/>
                </a:lnTo>
                <a:lnTo>
                  <a:pt x="22795" y="2929"/>
                </a:lnTo>
                <a:lnTo>
                  <a:pt x="37331" y="0"/>
                </a:lnTo>
                <a:lnTo>
                  <a:pt x="6349564" y="0"/>
                </a:lnTo>
                <a:lnTo>
                  <a:pt x="6364116" y="2929"/>
                </a:lnTo>
                <a:lnTo>
                  <a:pt x="6375993" y="10916"/>
                </a:lnTo>
                <a:lnTo>
                  <a:pt x="6383997" y="22759"/>
                </a:lnTo>
                <a:lnTo>
                  <a:pt x="6386931" y="37259"/>
                </a:lnTo>
                <a:lnTo>
                  <a:pt x="6386931" y="1447402"/>
                </a:lnTo>
                <a:lnTo>
                  <a:pt x="6383997" y="1461923"/>
                </a:lnTo>
                <a:lnTo>
                  <a:pt x="6375993" y="1473779"/>
                </a:lnTo>
                <a:lnTo>
                  <a:pt x="6364116" y="1481773"/>
                </a:lnTo>
                <a:lnTo>
                  <a:pt x="6349564" y="1484705"/>
                </a:lnTo>
                <a:lnTo>
                  <a:pt x="37331" y="1484705"/>
                </a:lnTo>
                <a:lnTo>
                  <a:pt x="22795" y="1481773"/>
                </a:lnTo>
                <a:lnTo>
                  <a:pt x="10929" y="1473779"/>
                </a:lnTo>
                <a:lnTo>
                  <a:pt x="2931" y="1461923"/>
                </a:lnTo>
                <a:lnTo>
                  <a:pt x="0" y="1447402"/>
                </a:lnTo>
                <a:lnTo>
                  <a:pt x="0" y="37259"/>
                </a:lnTo>
                <a:close/>
              </a:path>
            </a:pathLst>
          </a:custGeom>
          <a:ln w="1789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575189" y="18093678"/>
            <a:ext cx="6001385" cy="19138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0510" algn="ctr">
              <a:lnSpc>
                <a:spcPct val="100000"/>
              </a:lnSpc>
              <a:spcBef>
                <a:spcPts val="114"/>
              </a:spcBef>
            </a:pP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References</a:t>
            </a:r>
            <a:endParaRPr sz="1850">
              <a:latin typeface="Arial"/>
              <a:cs typeface="Arial"/>
            </a:endParaRPr>
          </a:p>
          <a:p>
            <a:pPr marL="198755" marR="30480" indent="-161290">
              <a:lnSpc>
                <a:spcPct val="101400"/>
              </a:lnSpc>
              <a:spcBef>
                <a:spcPts val="1815"/>
              </a:spcBef>
              <a:buAutoNum type="arabicPeriod"/>
              <a:tabLst>
                <a:tab pos="198755" algn="l"/>
              </a:tabLst>
            </a:pPr>
            <a:r>
              <a:rPr sz="1100" dirty="0">
                <a:latin typeface="Calibri"/>
                <a:cs typeface="Calibri"/>
              </a:rPr>
              <a:t>Diffey,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B.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L.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(2018).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"Time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Place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Modifiers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Personal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UV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Exposure“. International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Journal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</a:t>
            </a:r>
            <a:r>
              <a:rPr sz="1100" dirty="0">
                <a:latin typeface="Calibri"/>
                <a:cs typeface="Calibri"/>
              </a:rPr>
              <a:t>Environmental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Research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Public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Health.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https://doi.org/10.3390/ijerph15061112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98755" indent="-160655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198755" algn="l"/>
              </a:tabLst>
            </a:pPr>
            <a:r>
              <a:rPr sz="1100" dirty="0">
                <a:latin typeface="Calibri"/>
                <a:cs typeface="Calibri"/>
              </a:rPr>
              <a:t>Wood,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S.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(2017).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“Generalized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Additive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Models,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</a:t>
            </a:r>
            <a:r>
              <a:rPr sz="1050" baseline="27777" dirty="0">
                <a:latin typeface="Calibri"/>
                <a:cs typeface="Calibri"/>
              </a:rPr>
              <a:t>nd</a:t>
            </a:r>
            <a:r>
              <a:rPr sz="1050" spc="247" baseline="27777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edition”.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doi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10.1201/9781315370279.</a:t>
            </a:r>
            <a:endParaRPr sz="1100">
              <a:latin typeface="Calibri"/>
              <a:cs typeface="Calibri"/>
            </a:endParaRPr>
          </a:p>
          <a:p>
            <a:pPr marL="198755" indent="-16065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198755" algn="l"/>
              </a:tabLst>
            </a:pPr>
            <a:r>
              <a:rPr sz="1100" dirty="0">
                <a:latin typeface="Calibri"/>
                <a:cs typeface="Calibri"/>
              </a:rPr>
              <a:t>Wood,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S.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(2011).,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“Fast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stable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restricted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maximum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likelihood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marginal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likelihood</a:t>
            </a:r>
            <a:endParaRPr sz="110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estimation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semiparametric</a:t>
            </a:r>
            <a:r>
              <a:rPr sz="1100" spc="3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generalized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linear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models”.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Journal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Royal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Statistical</a:t>
            </a:r>
            <a:endParaRPr sz="110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latin typeface="Calibri"/>
                <a:cs typeface="Calibri"/>
              </a:rPr>
              <a:t>Society: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Series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B.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https://onlinelibrary.wiley.com/doi/10.1111/j.1467-</a:t>
            </a:r>
            <a:r>
              <a:rPr sz="11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9868.2010.00749.x</a:t>
            </a:r>
            <a:endParaRPr sz="1100">
              <a:latin typeface="Calibri"/>
              <a:cs typeface="Calibri"/>
            </a:endParaRPr>
          </a:p>
          <a:p>
            <a:pPr marL="198755" marR="541020" indent="-161290">
              <a:lnSpc>
                <a:spcPts val="1370"/>
              </a:lnSpc>
              <a:spcBef>
                <a:spcPts val="25"/>
              </a:spcBef>
              <a:buAutoNum type="arabicPeriod" startAt="4"/>
              <a:tabLst>
                <a:tab pos="198755" algn="l"/>
              </a:tabLst>
            </a:pPr>
            <a:r>
              <a:rPr sz="1100" dirty="0">
                <a:latin typeface="Calibri"/>
                <a:cs typeface="Calibri"/>
              </a:rPr>
              <a:t>Gasparrini,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A.,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Armstrong,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B.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Kenward,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M.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G.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(2010).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“Distributed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lag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non-</a:t>
            </a:r>
            <a:r>
              <a:rPr sz="1100" spc="-10" dirty="0">
                <a:latin typeface="Calibri"/>
                <a:cs typeface="Calibri"/>
              </a:rPr>
              <a:t>linear </a:t>
            </a:r>
            <a:r>
              <a:rPr sz="1100" dirty="0">
                <a:latin typeface="Calibri"/>
                <a:cs typeface="Calibri"/>
              </a:rPr>
              <a:t>models”.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Statistics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Medicine.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https://onlinelibrary.wiley.com/doi/abs/10.1002/sim.3940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26835" y="19858608"/>
            <a:ext cx="3619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65"/>
              </a:lnSpc>
            </a:pP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813" y="17790066"/>
            <a:ext cx="6202517" cy="1824604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663383" y="19672668"/>
            <a:ext cx="5762625" cy="367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Figure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3.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Relative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mortality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apparent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temperature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its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temporal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lags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(days),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decreasing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(right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left)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PM10.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045272" y="6163958"/>
            <a:ext cx="2679065" cy="367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Figure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4.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Cumulative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various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apparent </a:t>
            </a:r>
            <a:r>
              <a:rPr sz="1100" dirty="0">
                <a:latin typeface="Calibri"/>
                <a:cs typeface="Calibri"/>
              </a:rPr>
              <a:t>temperature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PM10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combinations.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752401" y="3897294"/>
            <a:ext cx="3023870" cy="5101590"/>
            <a:chOff x="10752401" y="3897294"/>
            <a:chExt cx="3023870" cy="5101590"/>
          </a:xfrm>
        </p:grpSpPr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79056" y="3897294"/>
              <a:ext cx="2996668" cy="224496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52401" y="6777175"/>
              <a:ext cx="2940488" cy="2221517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8079080" y="11556472"/>
            <a:ext cx="4646295" cy="367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Figure</a:t>
            </a:r>
            <a:r>
              <a:rPr sz="1100" b="1" spc="5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5.</a:t>
            </a:r>
            <a:r>
              <a:rPr sz="1100" b="1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Attributable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mortality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fraction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stratified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apparent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temperature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PM10/NO2/O3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levels.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987544" y="15057944"/>
            <a:ext cx="54571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Calibri"/>
                <a:cs typeface="Calibri"/>
              </a:rPr>
              <a:t>Figure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6.</a:t>
            </a:r>
            <a:r>
              <a:rPr sz="1100" b="1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Cause-specific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attributable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mortality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fraction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different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levels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PM10/NO2/O3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683460" y="9156450"/>
            <a:ext cx="6101715" cy="5885815"/>
            <a:chOff x="7683460" y="9156450"/>
            <a:chExt cx="6101715" cy="5885815"/>
          </a:xfrm>
        </p:grpSpPr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83460" y="9291641"/>
              <a:ext cx="2983067" cy="214128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53823" y="9156450"/>
              <a:ext cx="3130843" cy="239703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66609" y="13415009"/>
              <a:ext cx="2015049" cy="15772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41739" y="13333351"/>
              <a:ext cx="2236318" cy="170837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64976" y="13333351"/>
              <a:ext cx="2236318" cy="1708370"/>
            </a:xfrm>
            <a:prstGeom prst="rect">
              <a:avLst/>
            </a:prstGeom>
          </p:spPr>
        </p:pic>
      </p:grpSp>
      <p:sp>
        <p:nvSpPr>
          <p:cNvPr id="56" name="object 56"/>
          <p:cNvSpPr/>
          <p:nvPr/>
        </p:nvSpPr>
        <p:spPr>
          <a:xfrm>
            <a:off x="7514026" y="15564966"/>
            <a:ext cx="6387465" cy="393700"/>
          </a:xfrm>
          <a:custGeom>
            <a:avLst/>
            <a:gdLst/>
            <a:ahLst/>
            <a:cxnLst/>
            <a:rect l="l" t="t" r="r" b="b"/>
            <a:pathLst>
              <a:path w="6387465" h="393700">
                <a:moveTo>
                  <a:pt x="6281277" y="0"/>
                </a:moveTo>
                <a:lnTo>
                  <a:pt x="92677" y="0"/>
                </a:lnTo>
                <a:lnTo>
                  <a:pt x="56609" y="7275"/>
                </a:lnTo>
                <a:lnTo>
                  <a:pt x="27150" y="27122"/>
                </a:lnTo>
                <a:lnTo>
                  <a:pt x="7285" y="56574"/>
                </a:lnTo>
                <a:lnTo>
                  <a:pt x="0" y="92665"/>
                </a:lnTo>
                <a:lnTo>
                  <a:pt x="0" y="287856"/>
                </a:lnTo>
                <a:lnTo>
                  <a:pt x="8311" y="328971"/>
                </a:lnTo>
                <a:lnTo>
                  <a:pt x="30969" y="362564"/>
                </a:lnTo>
                <a:lnTo>
                  <a:pt x="64562" y="385223"/>
                </a:lnTo>
                <a:lnTo>
                  <a:pt x="105677" y="393534"/>
                </a:lnTo>
                <a:lnTo>
                  <a:pt x="6294290" y="393534"/>
                </a:lnTo>
                <a:lnTo>
                  <a:pt x="6330321" y="386248"/>
                </a:lnTo>
                <a:lnTo>
                  <a:pt x="6359771" y="366383"/>
                </a:lnTo>
                <a:lnTo>
                  <a:pt x="6379641" y="336924"/>
                </a:lnTo>
                <a:lnTo>
                  <a:pt x="6386931" y="300857"/>
                </a:lnTo>
                <a:lnTo>
                  <a:pt x="6386931" y="105677"/>
                </a:lnTo>
                <a:lnTo>
                  <a:pt x="6378615" y="64532"/>
                </a:lnTo>
                <a:lnTo>
                  <a:pt x="6355951" y="30942"/>
                </a:lnTo>
                <a:lnTo>
                  <a:pt x="6322364" y="8301"/>
                </a:lnTo>
                <a:lnTo>
                  <a:pt x="6281277" y="0"/>
                </a:lnTo>
                <a:close/>
              </a:path>
            </a:pathLst>
          </a:custGeom>
          <a:solidFill>
            <a:srgbClr val="B3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514026" y="16043478"/>
            <a:ext cx="6387465" cy="1954530"/>
          </a:xfrm>
          <a:custGeom>
            <a:avLst/>
            <a:gdLst/>
            <a:ahLst/>
            <a:cxnLst/>
            <a:rect l="l" t="t" r="r" b="b"/>
            <a:pathLst>
              <a:path w="6387465" h="1954530">
                <a:moveTo>
                  <a:pt x="0" y="49078"/>
                </a:moveTo>
                <a:lnTo>
                  <a:pt x="3863" y="29961"/>
                </a:lnTo>
                <a:lnTo>
                  <a:pt x="14397" y="14363"/>
                </a:lnTo>
                <a:lnTo>
                  <a:pt x="30017" y="3852"/>
                </a:lnTo>
                <a:lnTo>
                  <a:pt x="49138" y="0"/>
                </a:lnTo>
                <a:lnTo>
                  <a:pt x="6337745" y="0"/>
                </a:lnTo>
                <a:lnTo>
                  <a:pt x="6356914" y="3852"/>
                </a:lnTo>
                <a:lnTo>
                  <a:pt x="6372545" y="14363"/>
                </a:lnTo>
                <a:lnTo>
                  <a:pt x="6383074" y="29961"/>
                </a:lnTo>
                <a:lnTo>
                  <a:pt x="6386931" y="49078"/>
                </a:lnTo>
                <a:lnTo>
                  <a:pt x="6386931" y="1905161"/>
                </a:lnTo>
                <a:lnTo>
                  <a:pt x="6383074" y="1924287"/>
                </a:lnTo>
                <a:lnTo>
                  <a:pt x="6372545" y="1939906"/>
                </a:lnTo>
                <a:lnTo>
                  <a:pt x="6356914" y="1950438"/>
                </a:lnTo>
                <a:lnTo>
                  <a:pt x="6337745" y="1954299"/>
                </a:lnTo>
                <a:lnTo>
                  <a:pt x="49138" y="1954299"/>
                </a:lnTo>
                <a:lnTo>
                  <a:pt x="30017" y="1950438"/>
                </a:lnTo>
                <a:lnTo>
                  <a:pt x="14397" y="1939906"/>
                </a:lnTo>
                <a:lnTo>
                  <a:pt x="3863" y="1924287"/>
                </a:lnTo>
                <a:lnTo>
                  <a:pt x="0" y="1905161"/>
                </a:lnTo>
                <a:lnTo>
                  <a:pt x="0" y="49078"/>
                </a:lnTo>
                <a:close/>
              </a:path>
            </a:pathLst>
          </a:custGeom>
          <a:ln w="1789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604091" y="15580056"/>
            <a:ext cx="606615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48590" algn="ctr">
              <a:lnSpc>
                <a:spcPct val="100000"/>
              </a:lnSpc>
              <a:spcBef>
                <a:spcPts val="114"/>
              </a:spcBef>
            </a:pP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Conclusions</a:t>
            </a:r>
            <a:endParaRPr sz="1850">
              <a:latin typeface="Arial"/>
              <a:cs typeface="Arial"/>
            </a:endParaRPr>
          </a:p>
          <a:p>
            <a:pPr marL="173355" marR="5080" indent="-161290">
              <a:lnSpc>
                <a:spcPct val="101600"/>
              </a:lnSpc>
              <a:spcBef>
                <a:spcPts val="1689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This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first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time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lagged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effects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7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heat-</a:t>
            </a:r>
            <a:r>
              <a:rPr sz="1300" dirty="0">
                <a:latin typeface="Calibri"/>
                <a:cs typeface="Calibri"/>
              </a:rPr>
              <a:t>stress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air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pollution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synergy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was </a:t>
            </a:r>
            <a:r>
              <a:rPr sz="1300" dirty="0">
                <a:latin typeface="Calibri"/>
                <a:cs typeface="Calibri"/>
              </a:rPr>
              <a:t>studied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explicitly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at</a:t>
            </a:r>
            <a:r>
              <a:rPr sz="1300" spc="-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daily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temporal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resolution.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604091" y="16627251"/>
            <a:ext cx="6158230" cy="4210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73355" marR="5080" indent="-161290">
              <a:lnSpc>
                <a:spcPts val="1550"/>
              </a:lnSpc>
              <a:spcBef>
                <a:spcPts val="160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Our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study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confirms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hypothesis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 mortality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risk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due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heat-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stress</a:t>
            </a:r>
            <a:r>
              <a:rPr sz="13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3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compounded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13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air</a:t>
            </a:r>
            <a:r>
              <a:rPr sz="13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pollution </a:t>
            </a:r>
            <a:r>
              <a:rPr sz="1300" dirty="0">
                <a:latin typeface="Calibri"/>
                <a:cs typeface="Calibri"/>
              </a:rPr>
              <a:t>–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city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Thessaloniki,</a:t>
            </a:r>
            <a:r>
              <a:rPr sz="1300" spc="1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most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polluted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cities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Europe.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604091" y="17168438"/>
            <a:ext cx="6156960" cy="425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3355" marR="5080" indent="-161290">
              <a:lnSpc>
                <a:spcPct val="101600"/>
              </a:lnSpc>
              <a:spcBef>
                <a:spcPts val="75"/>
              </a:spcBef>
              <a:buClr>
                <a:srgbClr val="C00000"/>
              </a:buClr>
              <a:buChar char="○"/>
              <a:tabLst>
                <a:tab pos="173355" algn="l"/>
              </a:tabLst>
            </a:pPr>
            <a:r>
              <a:rPr sz="1300" dirty="0">
                <a:latin typeface="Calibri"/>
                <a:cs typeface="Calibri"/>
              </a:rPr>
              <a:t>During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hot-</a:t>
            </a:r>
            <a:r>
              <a:rPr sz="1300" spc="-25" dirty="0">
                <a:latin typeface="Calibri"/>
                <a:cs typeface="Calibri"/>
              </a:rPr>
              <a:t>and-</a:t>
            </a:r>
            <a:r>
              <a:rPr sz="1300" dirty="0">
                <a:latin typeface="Calibri"/>
                <a:cs typeface="Calibri"/>
              </a:rPr>
              <a:t>humid</a:t>
            </a:r>
            <a:r>
              <a:rPr sz="1300" spc="1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conditions: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respiratory</a:t>
            </a:r>
            <a:r>
              <a:rPr sz="130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disease</a:t>
            </a:r>
            <a:r>
              <a:rPr sz="13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mortality</a:t>
            </a:r>
            <a:r>
              <a:rPr sz="13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exacerbated</a:t>
            </a:r>
            <a:r>
              <a:rPr sz="13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13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00000"/>
                </a:solidFill>
                <a:latin typeface="Calibri"/>
                <a:cs typeface="Calibri"/>
              </a:rPr>
              <a:t>high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Ozone</a:t>
            </a:r>
            <a:r>
              <a:rPr sz="13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3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NO2</a:t>
            </a:r>
            <a:r>
              <a:rPr sz="1300" b="1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pollution,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while</a:t>
            </a:r>
            <a:r>
              <a:rPr sz="13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elderly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mortality</a:t>
            </a:r>
            <a:r>
              <a:rPr sz="1300" b="1" spc="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3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heightened</a:t>
            </a:r>
            <a:r>
              <a:rPr sz="13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13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sz="13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00000"/>
                </a:solidFill>
                <a:latin typeface="Calibri"/>
                <a:cs typeface="Calibri"/>
              </a:rPr>
              <a:t>PM10</a:t>
            </a:r>
            <a:r>
              <a:rPr sz="13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00000"/>
                </a:solidFill>
                <a:latin typeface="Calibri"/>
                <a:cs typeface="Calibri"/>
              </a:rPr>
              <a:t>levels.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604080" y="17714281"/>
            <a:ext cx="55727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Char char="○"/>
              <a:tabLst>
                <a:tab pos="174625" algn="l"/>
              </a:tabLst>
            </a:pPr>
            <a:r>
              <a:rPr sz="1300" dirty="0">
                <a:latin typeface="Calibri"/>
                <a:cs typeface="Calibri"/>
              </a:rPr>
              <a:t>Further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analysis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needed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also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allow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interactions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between</a:t>
            </a:r>
            <a:r>
              <a:rPr sz="1300" spc="6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pollutants.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061979" y="19225178"/>
            <a:ext cx="801241" cy="805341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1597" y="104910"/>
            <a:ext cx="557806" cy="793391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58555" y="339973"/>
            <a:ext cx="2376199" cy="706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54754"/>
            <a:ext cx="14218517" cy="18958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9096" y="4704547"/>
            <a:ext cx="2209800" cy="10697210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 marR="5080" indent="147955">
              <a:lnSpc>
                <a:spcPts val="4410"/>
              </a:lnSpc>
              <a:spcBef>
                <a:spcPts val="130"/>
              </a:spcBef>
            </a:pPr>
            <a:r>
              <a:rPr sz="3650" spc="405" dirty="0">
                <a:solidFill>
                  <a:srgbClr val="225078"/>
                </a:solidFill>
                <a:latin typeface="Cambria"/>
                <a:cs typeface="Cambria"/>
              </a:rPr>
              <a:t>This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325" dirty="0">
                <a:solidFill>
                  <a:srgbClr val="225078"/>
                </a:solidFill>
                <a:latin typeface="Cambria"/>
                <a:cs typeface="Cambria"/>
              </a:rPr>
              <a:t>Scientific</a:t>
            </a:r>
            <a:r>
              <a:rPr sz="3650" spc="160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285" dirty="0">
                <a:solidFill>
                  <a:srgbClr val="225078"/>
                </a:solidFill>
                <a:latin typeface="Cambria"/>
                <a:cs typeface="Cambria"/>
              </a:rPr>
              <a:t>Poster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420" dirty="0">
                <a:solidFill>
                  <a:srgbClr val="225078"/>
                </a:solidFill>
                <a:latin typeface="Cambria"/>
                <a:cs typeface="Cambria"/>
              </a:rPr>
              <a:t>Template</a:t>
            </a:r>
            <a:r>
              <a:rPr sz="3650" spc="170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204" dirty="0">
                <a:solidFill>
                  <a:srgbClr val="225078"/>
                </a:solidFill>
                <a:latin typeface="Cambria"/>
                <a:cs typeface="Cambria"/>
              </a:rPr>
              <a:t>Is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360" dirty="0">
                <a:solidFill>
                  <a:srgbClr val="225078"/>
                </a:solidFill>
                <a:latin typeface="Cambria"/>
                <a:cs typeface="Cambria"/>
              </a:rPr>
              <a:t>Provided</a:t>
            </a:r>
            <a:r>
              <a:rPr sz="3650" spc="360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345" dirty="0">
                <a:solidFill>
                  <a:srgbClr val="225078"/>
                </a:solidFill>
                <a:latin typeface="Cambria"/>
                <a:cs typeface="Cambria"/>
              </a:rPr>
              <a:t>Enter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545" dirty="0">
                <a:solidFill>
                  <a:srgbClr val="225078"/>
                </a:solidFill>
                <a:latin typeface="Cambria"/>
                <a:cs typeface="Cambria"/>
              </a:rPr>
              <a:t>A</a:t>
            </a:r>
            <a:r>
              <a:rPr sz="3650" spc="150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330" dirty="0">
                <a:solidFill>
                  <a:srgbClr val="225078"/>
                </a:solidFill>
                <a:latin typeface="Cambria"/>
                <a:cs typeface="Cambria"/>
              </a:rPr>
              <a:t>Title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484" dirty="0">
                <a:solidFill>
                  <a:srgbClr val="225078"/>
                </a:solidFill>
                <a:latin typeface="Cambria"/>
                <a:cs typeface="Cambria"/>
              </a:rPr>
              <a:t>And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480" dirty="0">
                <a:solidFill>
                  <a:srgbClr val="225078"/>
                </a:solidFill>
                <a:latin typeface="Cambria"/>
                <a:cs typeface="Cambria"/>
              </a:rPr>
              <a:t>Add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420" dirty="0">
                <a:solidFill>
                  <a:srgbClr val="225078"/>
                </a:solidFill>
                <a:latin typeface="Cambria"/>
                <a:cs typeface="Cambria"/>
              </a:rPr>
              <a:t>Logos</a:t>
            </a:r>
            <a:r>
              <a:rPr sz="3650" spc="14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615" dirty="0">
                <a:solidFill>
                  <a:srgbClr val="225078"/>
                </a:solidFill>
                <a:latin typeface="Cambria"/>
                <a:cs typeface="Cambria"/>
              </a:rPr>
              <a:t>To</a:t>
            </a:r>
            <a:r>
              <a:rPr sz="3650" spc="150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430" dirty="0">
                <a:solidFill>
                  <a:srgbClr val="225078"/>
                </a:solidFill>
                <a:latin typeface="Cambria"/>
                <a:cs typeface="Cambria"/>
              </a:rPr>
              <a:t>Your</a:t>
            </a:r>
            <a:r>
              <a:rPr sz="3650" spc="155" dirty="0">
                <a:solidFill>
                  <a:srgbClr val="225078"/>
                </a:solidFill>
                <a:latin typeface="Times New Roman"/>
                <a:cs typeface="Times New Roman"/>
              </a:rPr>
              <a:t> </a:t>
            </a:r>
            <a:r>
              <a:rPr sz="3650" spc="275" dirty="0">
                <a:solidFill>
                  <a:srgbClr val="225078"/>
                </a:solidFill>
                <a:latin typeface="Cambria"/>
                <a:cs typeface="Cambria"/>
              </a:rPr>
              <a:t>Poster</a:t>
            </a:r>
            <a:endParaRPr sz="3650">
              <a:latin typeface="Cambria"/>
              <a:cs typeface="Cambria"/>
            </a:endParaRPr>
          </a:p>
          <a:p>
            <a:pPr marL="1435735" marR="1422400" indent="1160145">
              <a:lnSpc>
                <a:spcPct val="121000"/>
              </a:lnSpc>
              <a:spcBef>
                <a:spcPts val="1250"/>
              </a:spcBef>
            </a:pPr>
            <a:r>
              <a:rPr sz="2400" spc="10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2400" spc="13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381A4"/>
                </a:solidFill>
                <a:latin typeface="Verdana"/>
                <a:cs typeface="Verdana"/>
              </a:rPr>
              <a:t>Author</a:t>
            </a:r>
            <a:r>
              <a:rPr sz="2400" spc="15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381A4"/>
                </a:solidFill>
                <a:latin typeface="Verdana"/>
                <a:cs typeface="Verdana"/>
              </a:rPr>
              <a:t>Names</a:t>
            </a:r>
            <a:r>
              <a:rPr sz="2400" spc="13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spc="55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2400" spc="15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381A4"/>
                </a:solidFill>
                <a:latin typeface="Verdana"/>
                <a:cs typeface="Verdana"/>
              </a:rPr>
              <a:t>Information</a:t>
            </a:r>
            <a:r>
              <a:rPr sz="2400" spc="6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381A4"/>
                </a:solidFill>
                <a:latin typeface="Verdana"/>
                <a:cs typeface="Verdana"/>
              </a:rPr>
              <a:t>Include</a:t>
            </a:r>
            <a:r>
              <a:rPr sz="2400" spc="3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381A4"/>
                </a:solidFill>
                <a:latin typeface="Verdana"/>
                <a:cs typeface="Verdana"/>
              </a:rPr>
              <a:t>University</a:t>
            </a:r>
            <a:r>
              <a:rPr sz="2400" spc="4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381A4"/>
                </a:solidFill>
                <a:latin typeface="Verdana"/>
                <a:cs typeface="Verdana"/>
              </a:rPr>
              <a:t>or</a:t>
            </a:r>
            <a:r>
              <a:rPr sz="2400" spc="3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1381A4"/>
                </a:solidFill>
                <a:latin typeface="Verdana"/>
                <a:cs typeface="Verdana"/>
              </a:rPr>
              <a:t>Department</a:t>
            </a:r>
            <a:r>
              <a:rPr sz="2400" spc="2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381A4"/>
                </a:solidFill>
                <a:latin typeface="Verdana"/>
                <a:cs typeface="Verdana"/>
              </a:rPr>
              <a:t>Names</a:t>
            </a:r>
            <a:r>
              <a:rPr sz="2400" spc="3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381A4"/>
                </a:solidFill>
                <a:latin typeface="Verdana"/>
                <a:cs typeface="Verdana"/>
              </a:rPr>
              <a:t>if</a:t>
            </a:r>
            <a:r>
              <a:rPr sz="2400" spc="3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1381A4"/>
                </a:solidFill>
                <a:latin typeface="Verdana"/>
                <a:cs typeface="Verdana"/>
              </a:rPr>
              <a:t>Needed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45345" y="869263"/>
            <a:ext cx="10577195" cy="18366105"/>
          </a:xfrm>
          <a:custGeom>
            <a:avLst/>
            <a:gdLst/>
            <a:ahLst/>
            <a:cxnLst/>
            <a:rect l="l" t="t" r="r" b="b"/>
            <a:pathLst>
              <a:path w="10577194" h="18366105">
                <a:moveTo>
                  <a:pt x="3558806" y="9347365"/>
                </a:moveTo>
                <a:lnTo>
                  <a:pt x="9334" y="9347365"/>
                </a:lnTo>
                <a:lnTo>
                  <a:pt x="9334" y="13691908"/>
                </a:lnTo>
                <a:lnTo>
                  <a:pt x="3558806" y="13691908"/>
                </a:lnTo>
                <a:lnTo>
                  <a:pt x="3558806" y="9347365"/>
                </a:lnTo>
                <a:close/>
              </a:path>
              <a:path w="10577194" h="18366105">
                <a:moveTo>
                  <a:pt x="3994302" y="0"/>
                </a:moveTo>
                <a:lnTo>
                  <a:pt x="63" y="0"/>
                </a:lnTo>
                <a:lnTo>
                  <a:pt x="63" y="4344555"/>
                </a:lnTo>
                <a:lnTo>
                  <a:pt x="3994302" y="4344555"/>
                </a:lnTo>
                <a:lnTo>
                  <a:pt x="3994302" y="0"/>
                </a:lnTo>
                <a:close/>
              </a:path>
              <a:path w="10577194" h="18366105">
                <a:moveTo>
                  <a:pt x="4351515" y="14021029"/>
                </a:moveTo>
                <a:lnTo>
                  <a:pt x="0" y="14021029"/>
                </a:lnTo>
                <a:lnTo>
                  <a:pt x="0" y="18365585"/>
                </a:lnTo>
                <a:lnTo>
                  <a:pt x="4351515" y="18365585"/>
                </a:lnTo>
                <a:lnTo>
                  <a:pt x="4351515" y="14021029"/>
                </a:lnTo>
                <a:close/>
              </a:path>
              <a:path w="10577194" h="18366105">
                <a:moveTo>
                  <a:pt x="8700897" y="0"/>
                </a:moveTo>
                <a:lnTo>
                  <a:pt x="4351528" y="0"/>
                </a:lnTo>
                <a:lnTo>
                  <a:pt x="4351528" y="4344555"/>
                </a:lnTo>
                <a:lnTo>
                  <a:pt x="8700897" y="4344555"/>
                </a:lnTo>
                <a:lnTo>
                  <a:pt x="8700897" y="0"/>
                </a:lnTo>
                <a:close/>
              </a:path>
              <a:path w="10577194" h="18366105">
                <a:moveTo>
                  <a:pt x="10576890" y="14021029"/>
                </a:moveTo>
                <a:lnTo>
                  <a:pt x="4629975" y="14021029"/>
                </a:lnTo>
                <a:lnTo>
                  <a:pt x="4629975" y="18365585"/>
                </a:lnTo>
                <a:lnTo>
                  <a:pt x="10576890" y="18365585"/>
                </a:lnTo>
                <a:lnTo>
                  <a:pt x="10576890" y="14021029"/>
                </a:lnTo>
                <a:close/>
              </a:path>
              <a:path w="10577194" h="18366105">
                <a:moveTo>
                  <a:pt x="10576890" y="9347365"/>
                </a:moveTo>
                <a:lnTo>
                  <a:pt x="3854704" y="9347365"/>
                </a:lnTo>
                <a:lnTo>
                  <a:pt x="3854704" y="13691908"/>
                </a:lnTo>
                <a:lnTo>
                  <a:pt x="10576890" y="13691908"/>
                </a:lnTo>
                <a:lnTo>
                  <a:pt x="10576890" y="9347365"/>
                </a:lnTo>
                <a:close/>
              </a:path>
              <a:path w="10577194" h="18366105">
                <a:moveTo>
                  <a:pt x="10576890" y="4673676"/>
                </a:moveTo>
                <a:lnTo>
                  <a:pt x="63" y="4673676"/>
                </a:lnTo>
                <a:lnTo>
                  <a:pt x="63" y="9018219"/>
                </a:lnTo>
                <a:lnTo>
                  <a:pt x="10576890" y="9018219"/>
                </a:lnTo>
                <a:lnTo>
                  <a:pt x="10576890" y="46736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90039" y="15389314"/>
            <a:ext cx="478790" cy="372046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00" dirty="0">
                <a:solidFill>
                  <a:srgbClr val="225078"/>
                </a:solidFill>
                <a:latin typeface="Cambria"/>
                <a:cs typeface="Cambria"/>
              </a:rPr>
              <a:t>Abstract</a:t>
            </a:r>
            <a:endParaRPr sz="15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spc="5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7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43248" y="869263"/>
            <a:ext cx="1579245" cy="4344670"/>
          </a:xfrm>
          <a:custGeom>
            <a:avLst/>
            <a:gdLst/>
            <a:ahLst/>
            <a:cxnLst/>
            <a:rect l="l" t="t" r="r" b="b"/>
            <a:pathLst>
              <a:path w="1579244" h="4344670">
                <a:moveTo>
                  <a:pt x="1579007" y="0"/>
                </a:moveTo>
                <a:lnTo>
                  <a:pt x="0" y="0"/>
                </a:lnTo>
                <a:lnTo>
                  <a:pt x="0" y="4344550"/>
                </a:lnTo>
                <a:lnTo>
                  <a:pt x="1579007" y="4344550"/>
                </a:lnTo>
                <a:lnTo>
                  <a:pt x="1579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81502" y="1367680"/>
            <a:ext cx="478790" cy="372046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50" dirty="0">
                <a:solidFill>
                  <a:srgbClr val="225078"/>
                </a:solidFill>
                <a:latin typeface="Cambria"/>
                <a:cs typeface="Cambria"/>
              </a:rPr>
              <a:t>Acknowledgements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spc="5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7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0039" y="1367680"/>
            <a:ext cx="478790" cy="372046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60" dirty="0">
                <a:solidFill>
                  <a:srgbClr val="225078"/>
                </a:solidFill>
                <a:latin typeface="Cambria"/>
                <a:cs typeface="Cambria"/>
              </a:rPr>
              <a:t>Conclusion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spc="5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7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32775" y="1366902"/>
            <a:ext cx="478790" cy="3721100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70" dirty="0">
                <a:solidFill>
                  <a:srgbClr val="225078"/>
                </a:solidFill>
                <a:latin typeface="Cambria"/>
                <a:cs typeface="Cambria"/>
              </a:rPr>
              <a:t>Recommendations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000" spc="60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9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5526" y="15389314"/>
            <a:ext cx="478790" cy="372046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35" dirty="0">
                <a:solidFill>
                  <a:srgbClr val="225078"/>
                </a:solidFill>
                <a:latin typeface="Cambria"/>
                <a:cs typeface="Cambria"/>
              </a:rPr>
              <a:t>Introduction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000" spc="5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7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0039" y="10715528"/>
            <a:ext cx="478790" cy="372046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10" dirty="0">
                <a:solidFill>
                  <a:srgbClr val="225078"/>
                </a:solidFill>
                <a:latin typeface="Cambria"/>
                <a:cs typeface="Cambria"/>
              </a:rPr>
              <a:t>Materials</a:t>
            </a:r>
            <a:endParaRPr sz="15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spc="5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9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8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8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41156" y="10715528"/>
            <a:ext cx="478790" cy="372046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70" dirty="0">
                <a:solidFill>
                  <a:srgbClr val="225078"/>
                </a:solidFill>
                <a:latin typeface="Cambria"/>
                <a:cs typeface="Cambria"/>
              </a:rPr>
              <a:t>Methodology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000" spc="5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9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8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8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0039" y="6041573"/>
            <a:ext cx="478790" cy="372046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550" spc="105" dirty="0">
                <a:solidFill>
                  <a:srgbClr val="225078"/>
                </a:solidFill>
                <a:latin typeface="Cambria"/>
                <a:cs typeface="Cambria"/>
              </a:rPr>
              <a:t>Results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spc="55" dirty="0">
                <a:solidFill>
                  <a:srgbClr val="1381A4"/>
                </a:solidFill>
                <a:latin typeface="Verdana"/>
                <a:cs typeface="Verdana"/>
              </a:rPr>
              <a:t>Add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your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information,</a:t>
            </a:r>
            <a:r>
              <a:rPr sz="1000" spc="7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graphs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and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images</a:t>
            </a:r>
            <a:r>
              <a:rPr sz="1000" spc="105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to</a:t>
            </a:r>
            <a:r>
              <a:rPr sz="1000" spc="10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381A4"/>
                </a:solidFill>
                <a:latin typeface="Verdana"/>
                <a:cs typeface="Verdana"/>
              </a:rPr>
              <a:t>this</a:t>
            </a:r>
            <a:r>
              <a:rPr sz="1000" spc="90" dirty="0">
                <a:solidFill>
                  <a:srgbClr val="1381A4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381A4"/>
                </a:solidFill>
                <a:latin typeface="Verdana"/>
                <a:cs typeface="Verdana"/>
              </a:rPr>
              <a:t>section.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8663" y="1272694"/>
            <a:ext cx="1528445" cy="17234535"/>
            <a:chOff x="528663" y="1272694"/>
            <a:chExt cx="1528445" cy="1723453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663" y="16909422"/>
              <a:ext cx="1528305" cy="159766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517" y="1272694"/>
              <a:ext cx="807308" cy="27160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1133</Words>
  <Application>Microsoft Office PowerPoint</Application>
  <PresentationFormat>Custom</PresentationFormat>
  <Paragraphs>71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Cambria</vt:lpstr>
      <vt:lpstr>Cambria Math</vt:lpstr>
      <vt:lpstr>Times New Roman</vt:lpstr>
      <vt:lpstr>Verdana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python-docx</dc:creator>
  <cp:lastModifiedBy>Bhavishya Chauhan</cp:lastModifiedBy>
  <cp:revision>1</cp:revision>
  <dcterms:created xsi:type="dcterms:W3CDTF">2025-11-17T16:40:54Z</dcterms:created>
  <dcterms:modified xsi:type="dcterms:W3CDTF">2025-11-17T16:42:55Z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Creator">
    <vt:lpwstr>www.konwerter.net</vt:lpwstr>
  </property>
  <property fmtid="{D5CDD505-2E9C-101B-9397-08002B2CF9AE}" pid="4" name="LastSaved">
    <vt:filetime>2025-11-17T00:00:00Z</vt:filetime>
  </property>
  <property fmtid="{D5CDD505-2E9C-101B-9397-08002B2CF9AE}" pid="5" name="Producer">
    <vt:lpwstr>*</vt:lpwstr>
  </property>
</Properties>
</file>