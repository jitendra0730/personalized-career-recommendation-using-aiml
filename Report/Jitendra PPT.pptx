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75" r:id="rId2"/>
    <p:sldId id="287" r:id="rId3"/>
    <p:sldId id="294" r:id="rId4"/>
    <p:sldId id="295" r:id="rId5"/>
    <p:sldId id="270" r:id="rId6"/>
    <p:sldId id="289" r:id="rId7"/>
    <p:sldId id="277" r:id="rId8"/>
    <p:sldId id="297" r:id="rId9"/>
    <p:sldId id="298" r:id="rId10"/>
    <p:sldId id="290" r:id="rId11"/>
    <p:sldId id="284" r:id="rId12"/>
    <p:sldId id="27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511" autoAdjust="0"/>
    <p:restoredTop sz="94660"/>
  </p:normalViewPr>
  <p:slideViewPr>
    <p:cSldViewPr>
      <p:cViewPr varScale="1">
        <p:scale>
          <a:sx n="78" d="100"/>
          <a:sy n="78" d="100"/>
        </p:scale>
        <p:origin x="49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CD895D-D788-4B08-93B3-B78EFB535739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432714-8A85-4045-9756-8E58AB7B76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6134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2</a:t>
            </a:fld>
            <a:endParaRPr lang="en-US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7C864-0534-DEC0-E108-C8BAC7D83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5F6331FB-0862-A236-4AB0-E80FA1C05B4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3</a:t>
            </a:fld>
            <a:endParaRPr lang="en-US"/>
          </a:p>
        </p:txBody>
      </p:sp>
      <p:sp>
        <p:nvSpPr>
          <p:cNvPr id="521218" name="Rectangle 2">
            <a:extLst>
              <a:ext uri="{FF2B5EF4-FFF2-40B4-BE49-F238E27FC236}">
                <a16:creationId xmlns:a16="http://schemas.microsoft.com/office/drawing/2014/main" id="{C515E855-C029-DFB6-928E-B50ACF6A10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21219" name="Rectangle 3">
            <a:extLst>
              <a:ext uri="{FF2B5EF4-FFF2-40B4-BE49-F238E27FC236}">
                <a16:creationId xmlns:a16="http://schemas.microsoft.com/office/drawing/2014/main" id="{61DB6360-37D3-CD85-74C0-775FFDC399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8589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BD0F7-9954-8A93-7B55-147857015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FAECD8F8-3362-0D7B-5AC0-CB4A8F156E4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4</a:t>
            </a:fld>
            <a:endParaRPr lang="en-US"/>
          </a:p>
        </p:txBody>
      </p:sp>
      <p:sp>
        <p:nvSpPr>
          <p:cNvPr id="521218" name="Rectangle 2">
            <a:extLst>
              <a:ext uri="{FF2B5EF4-FFF2-40B4-BE49-F238E27FC236}">
                <a16:creationId xmlns:a16="http://schemas.microsoft.com/office/drawing/2014/main" id="{08D977C7-7A87-D424-FA7A-93DCA6C1E2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21219" name="Rectangle 3">
            <a:extLst>
              <a:ext uri="{FF2B5EF4-FFF2-40B4-BE49-F238E27FC236}">
                <a16:creationId xmlns:a16="http://schemas.microsoft.com/office/drawing/2014/main" id="{6E69217E-51DE-ED9F-B727-93879C323C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772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5</a:t>
            </a:fld>
            <a:endParaRPr lang="en-US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BACA7-98D1-B7CC-1E17-80DBB2A29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D56EB46-DBD1-8181-473E-AD8DC65A85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6</a:t>
            </a:fld>
            <a:endParaRPr lang="en-US"/>
          </a:p>
        </p:txBody>
      </p:sp>
      <p:sp>
        <p:nvSpPr>
          <p:cNvPr id="521218" name="Rectangle 2">
            <a:extLst>
              <a:ext uri="{FF2B5EF4-FFF2-40B4-BE49-F238E27FC236}">
                <a16:creationId xmlns:a16="http://schemas.microsoft.com/office/drawing/2014/main" id="{DAB50C79-BDAE-08DF-FC21-4A8C5E847F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21219" name="Rectangle 3">
            <a:extLst>
              <a:ext uri="{FF2B5EF4-FFF2-40B4-BE49-F238E27FC236}">
                <a16:creationId xmlns:a16="http://schemas.microsoft.com/office/drawing/2014/main" id="{40FDFF7C-4A95-0A4B-9EA1-CCA7509AFD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0612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7</a:t>
            </a:fld>
            <a:endParaRPr lang="en-US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BD37D-8EF6-7521-3DDD-05D1369B1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39A29285-EA24-3CB7-512D-F53ECC3D9A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8</a:t>
            </a:fld>
            <a:endParaRPr lang="en-US"/>
          </a:p>
        </p:txBody>
      </p:sp>
      <p:sp>
        <p:nvSpPr>
          <p:cNvPr id="521218" name="Rectangle 2">
            <a:extLst>
              <a:ext uri="{FF2B5EF4-FFF2-40B4-BE49-F238E27FC236}">
                <a16:creationId xmlns:a16="http://schemas.microsoft.com/office/drawing/2014/main" id="{22C4F8E4-E192-4FD6-C91B-D55C894C0D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21219" name="Rectangle 3">
            <a:extLst>
              <a:ext uri="{FF2B5EF4-FFF2-40B4-BE49-F238E27FC236}">
                <a16:creationId xmlns:a16="http://schemas.microsoft.com/office/drawing/2014/main" id="{DB49899A-4AEF-E7DA-EAD4-3A5E72F503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7963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398EA-9AEB-8C29-E1C4-3A57C1BD5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7B2F5C4-1A8E-2568-DF70-2BD9855D47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9</a:t>
            </a:fld>
            <a:endParaRPr lang="en-US"/>
          </a:p>
        </p:txBody>
      </p:sp>
      <p:sp>
        <p:nvSpPr>
          <p:cNvPr id="521218" name="Rectangle 2">
            <a:extLst>
              <a:ext uri="{FF2B5EF4-FFF2-40B4-BE49-F238E27FC236}">
                <a16:creationId xmlns:a16="http://schemas.microsoft.com/office/drawing/2014/main" id="{BB60FC65-630D-5D8D-A34D-F703B70A416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21219" name="Rectangle 3">
            <a:extLst>
              <a:ext uri="{FF2B5EF4-FFF2-40B4-BE49-F238E27FC236}">
                <a16:creationId xmlns:a16="http://schemas.microsoft.com/office/drawing/2014/main" id="{25B1AEAF-2348-F7DB-2C6C-C072D90F4F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1542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4A7E5-B564-88FE-19B4-862E25574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FBE16081-AACA-406B-9D6C-FCEA04BAD8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10</a:t>
            </a:fld>
            <a:endParaRPr lang="en-US"/>
          </a:p>
        </p:txBody>
      </p:sp>
      <p:sp>
        <p:nvSpPr>
          <p:cNvPr id="521218" name="Rectangle 2">
            <a:extLst>
              <a:ext uri="{FF2B5EF4-FFF2-40B4-BE49-F238E27FC236}">
                <a16:creationId xmlns:a16="http://schemas.microsoft.com/office/drawing/2014/main" id="{F7991971-8225-13AE-E800-9FC1EDA76F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21219" name="Rectangle 3">
            <a:extLst>
              <a:ext uri="{FF2B5EF4-FFF2-40B4-BE49-F238E27FC236}">
                <a16:creationId xmlns:a16="http://schemas.microsoft.com/office/drawing/2014/main" id="{C024BFB9-1EF7-18AC-E7C2-70A9B78076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1310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11</a:t>
            </a:fld>
            <a:endParaRPr lang="en-US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5081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141" y="0"/>
            <a:ext cx="12197140" cy="548680"/>
          </a:xfrm>
        </p:spPr>
        <p:txBody>
          <a:bodyPr>
            <a:normAutofit/>
          </a:bodyPr>
          <a:lstStyle>
            <a:lvl1pPr algn="l">
              <a:defRPr sz="28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4704"/>
            <a:ext cx="12192000" cy="5400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0" y="6492067"/>
            <a:ext cx="526752" cy="365125"/>
          </a:xfrm>
        </p:spPr>
        <p:txBody>
          <a:bodyPr/>
          <a:lstStyle>
            <a:lvl1pPr algn="ctr">
              <a:defRPr/>
            </a:lvl1pPr>
          </a:lstStyle>
          <a:p>
            <a:fld id="{08FC1071-F2DF-4CA9-AA63-FF97A16BD73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1531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5396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5711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6919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5771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856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1854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9271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7677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3088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-26235" y="8721"/>
            <a:ext cx="12218235" cy="490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l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620688"/>
            <a:ext cx="12192000" cy="5688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" y="6492878"/>
            <a:ext cx="622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FC1071-F2DF-4CA9-AA63-FF97A16BD739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21291D-A2D3-4641-B30C-0E1466CBA1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685" b="6953"/>
          <a:stretch/>
        </p:blipFill>
        <p:spPr>
          <a:xfrm>
            <a:off x="10641084" y="67831"/>
            <a:ext cx="1550915" cy="7215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86097A-D780-61A3-DDD7-54C8C8C5F2A4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5409"/>
          <a:stretch/>
        </p:blipFill>
        <p:spPr>
          <a:xfrm>
            <a:off x="6076" y="27127"/>
            <a:ext cx="1193380" cy="521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646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lang="en-IN" sz="2800" b="1" kern="1200" smtClean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87449"/>
            <a:ext cx="9144000" cy="1080120"/>
          </a:xfrm>
        </p:spPr>
        <p:txBody>
          <a:bodyPr>
            <a:normAutofit fontScale="90000"/>
          </a:bodyPr>
          <a:lstStyle/>
          <a:p>
            <a:pPr fontAlgn="base">
              <a:spcAft>
                <a:spcPct val="0"/>
              </a:spcAft>
            </a:pPr>
            <a:r>
              <a:rPr lang="en-US" sz="2700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rPr>
              <a:t>Personalized Carrier Recommendation System</a:t>
            </a:r>
            <a:b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rPr>
            </a:b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rPr>
            </a:br>
            <a:r>
              <a:rPr lang="en-US" sz="2000" dirty="0">
                <a:solidFill>
                  <a:srgbClr val="0033CC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rPr>
              <a:t>Date: 10/10/2025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latin typeface="Cambria" panose="02040503050406030204" pitchFamily="18" charset="0"/>
                <a:ea typeface="Cambria" panose="02040503050406030204" pitchFamily="18" charset="0"/>
              </a:rPr>
              <a:t>1</a:t>
            </a:fld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47783" y="1585264"/>
            <a:ext cx="4968552" cy="144016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385224" y="6122424"/>
            <a:ext cx="78488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0"/>
              </a:rPr>
              <a:t>School of Engineering, P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cs typeface="Calibri" pitchFamily="34" charset="0"/>
              </a:rPr>
              <a:t>P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0"/>
              </a:rPr>
              <a:t> Savani University, Surat, Gujarat, India-394125</a:t>
            </a:r>
          </a:p>
        </p:txBody>
      </p:sp>
      <p:sp>
        <p:nvSpPr>
          <p:cNvPr id="8" name="Rectangle 7"/>
          <p:cNvSpPr/>
          <p:nvPr/>
        </p:nvSpPr>
        <p:spPr>
          <a:xfrm>
            <a:off x="2135558" y="2086697"/>
            <a:ext cx="804174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rPr>
              <a:t>Degree: B.Tech CSE ML&amp;AI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07968" y="3244334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33CC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rPr>
              <a:t>Jitendra Chaudhary (22SE02ML095)</a:t>
            </a:r>
            <a:endParaRPr lang="en-US" dirty="0">
              <a:solidFill>
                <a:srgbClr val="0033CC"/>
              </a:solidFill>
              <a:latin typeface="Cambria" panose="02040503050406030204" pitchFamily="18" charset="0"/>
              <a:ea typeface="Cambria" panose="02040503050406030204" pitchFamily="18" charset="0"/>
              <a:cs typeface="Arial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703512" y="3066811"/>
            <a:ext cx="374019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0033CC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rPr>
              <a:t>Project Guide: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00" b="1" kern="0" dirty="0">
                <a:effectLst/>
                <a:latin typeface="Cambria" panose="02040503050406030204" pitchFamily="18" charset="0"/>
                <a:ea typeface="Arial" panose="020B0604020202020204" pitchFamily="34" charset="0"/>
              </a:rPr>
              <a:t>Ms. Shruti Mishra</a:t>
            </a:r>
            <a:endParaRPr lang="en-IN" sz="1800" b="1" kern="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33CC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2B0945F-DF15-7EED-13B7-982AAA6470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8016" y="4286871"/>
            <a:ext cx="1636826" cy="1629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402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168B95E-51BA-82C7-930D-1468B509D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1382748" y="1894725"/>
            <a:ext cx="9176732" cy="287464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b="1" dirty="0"/>
              <a:t>Objective:</a:t>
            </a: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US" dirty="0"/>
              <a:t>The objective of this project is to design and develop an </a:t>
            </a:r>
            <a:r>
              <a:rPr lang="en-US" b="1" dirty="0"/>
              <a:t>AI-powered career recommendation and skill tracking system</a:t>
            </a:r>
            <a:r>
              <a:rPr lang="en-US" dirty="0"/>
              <a:t> that provides </a:t>
            </a:r>
            <a:r>
              <a:rPr lang="en-US" b="1" dirty="0"/>
              <a:t>personalized job suggestions</a:t>
            </a:r>
            <a:r>
              <a:rPr lang="en-US" dirty="0"/>
              <a:t> based on a user’s skills, interests, experience, education level, salary expectations, and work preferences.</a:t>
            </a:r>
            <a:endParaRPr lang="en-IN" b="0" i="0" dirty="0">
              <a:effectLst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pPr/>
              <a:t>2</a:t>
            </a:fld>
            <a:endParaRPr lang="en-IN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5380" name="Rectangle 4"/>
          <p:cNvSpPr>
            <a:spLocks noChangeArrowheads="1"/>
          </p:cNvSpPr>
          <p:nvPr/>
        </p:nvSpPr>
        <p:spPr bwMode="auto">
          <a:xfrm>
            <a:off x="141548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5381" name="Text Box 5"/>
          <p:cNvSpPr txBox="1">
            <a:spLocks noChangeArrowheads="1"/>
          </p:cNvSpPr>
          <p:nvPr/>
        </p:nvSpPr>
        <p:spPr bwMode="auto">
          <a:xfrm>
            <a:off x="1991072" y="176232"/>
            <a:ext cx="759633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2400" b="1">
                <a:solidFill>
                  <a:schemeClr val="bg1"/>
                </a:solidFill>
                <a:latin typeface="Calibri" pitchFamily="34" charset="0"/>
                <a:ea typeface="ＭＳ Ｐゴシック" pitchFamily="-28" charset="-128"/>
              </a:defRPr>
            </a:lvl1pPr>
          </a:lstStyle>
          <a:p>
            <a:pPr algn="ctr"/>
            <a:r>
              <a:rPr lang="en-IN" dirty="0"/>
              <a:t>Title: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rPr>
              <a:t>Personalized Carrier Recommendation System</a:t>
            </a:r>
            <a:br>
              <a:rPr lang="en-IN" dirty="0"/>
            </a:b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5384" name="Rectangle 8"/>
          <p:cNvSpPr>
            <a:spLocks noChangeArrowheads="1"/>
          </p:cNvSpPr>
          <p:nvPr/>
        </p:nvSpPr>
        <p:spPr bwMode="auto">
          <a:xfrm>
            <a:off x="1415480" y="6165304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1524000" y="6492878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pPr/>
              <a:t>2</a:t>
            </a:fld>
            <a:endParaRPr lang="en-IN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57729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DBCF8-C3F2-E89F-30E8-2264167FD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CF870AE-C1BC-0E80-5B4A-19157779D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076D136-CE9D-F8D7-35AD-0B4881B9A7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15480" y="1241974"/>
            <a:ext cx="9144000" cy="4498211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2400" dirty="0"/>
              <a:t>This project aims to simplify career selection by providing accurate, AI-driven job recommendations. Unlike traditional portals, it combines </a:t>
            </a:r>
            <a:r>
              <a:rPr lang="en-US" sz="2400" b="1" dirty="0"/>
              <a:t>machine learning (Random Forest)</a:t>
            </a:r>
            <a:r>
              <a:rPr lang="en-US" sz="2400" dirty="0"/>
              <a:t> and </a:t>
            </a:r>
            <a:r>
              <a:rPr lang="en-US" sz="2400" b="1" dirty="0"/>
              <a:t>semantic similarity (Cosine / BERT)</a:t>
            </a:r>
            <a:r>
              <a:rPr lang="en-US" sz="2400" dirty="0"/>
              <a:t> to analyze both user profiles and job data, offering precise and meaningful matches. </a:t>
            </a:r>
          </a:p>
          <a:p>
            <a:pPr marL="0" lvl="0" indent="0">
              <a:buNone/>
            </a:pPr>
            <a:endParaRPr lang="en-US" sz="2400" dirty="0"/>
          </a:p>
          <a:p>
            <a:pPr lvl="0"/>
            <a:r>
              <a:rPr lang="en-IN" sz="2400" b="1" dirty="0"/>
              <a:t>Problem Statement:</a:t>
            </a:r>
            <a:r>
              <a:rPr lang="en-IN" sz="2400" dirty="0"/>
              <a:t> </a:t>
            </a:r>
            <a:r>
              <a:rPr lang="en-US" sz="2400" dirty="0"/>
              <a:t>Job seekers often receive irrelevant results due to keyword-based systems. There is a need for a personalized AI system that considers multiple user factors like skills, education, automation risk, and experience to recommend the most suitable careers.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20D672-4293-5742-42C4-EEB5BE1D0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pPr/>
              <a:t>3</a:t>
            </a:fld>
            <a:endParaRPr lang="en-IN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5380" name="Rectangle 4">
            <a:extLst>
              <a:ext uri="{FF2B5EF4-FFF2-40B4-BE49-F238E27FC236}">
                <a16:creationId xmlns:a16="http://schemas.microsoft.com/office/drawing/2014/main" id="{0107EA8F-F6D0-E1FF-0891-D267EE733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548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5381" name="Text Box 5">
            <a:extLst>
              <a:ext uri="{FF2B5EF4-FFF2-40B4-BE49-F238E27FC236}">
                <a16:creationId xmlns:a16="http://schemas.microsoft.com/office/drawing/2014/main" id="{CFD4AEBD-A2E6-C0BD-0A6D-E884C8E7AB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9200" y="155255"/>
            <a:ext cx="90402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2400" b="1">
                <a:solidFill>
                  <a:schemeClr val="bg1"/>
                </a:solidFill>
                <a:latin typeface="Calibri" pitchFamily="34" charset="0"/>
                <a:ea typeface="ＭＳ Ｐゴシック" pitchFamily="-28" charset="-128"/>
              </a:defRPr>
            </a:lvl1pPr>
          </a:lstStyle>
          <a:p>
            <a:pPr algn="ctr"/>
            <a:r>
              <a:rPr lang="en-IN" dirty="0"/>
              <a:t>Introduction / Problem Statement</a:t>
            </a:r>
          </a:p>
        </p:txBody>
      </p:sp>
      <p:sp>
        <p:nvSpPr>
          <p:cNvPr id="485384" name="Rectangle 8">
            <a:extLst>
              <a:ext uri="{FF2B5EF4-FFF2-40B4-BE49-F238E27FC236}">
                <a16:creationId xmlns:a16="http://schemas.microsoft.com/office/drawing/2014/main" id="{86D560E9-1B0D-A5A5-1B2B-A64E15B8D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5480" y="6183062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37A8FAD4-8E28-55E0-7B71-9A0AAC360BEA}"/>
              </a:ext>
            </a:extLst>
          </p:cNvPr>
          <p:cNvSpPr txBox="1">
            <a:spLocks/>
          </p:cNvSpPr>
          <p:nvPr/>
        </p:nvSpPr>
        <p:spPr>
          <a:xfrm>
            <a:off x="1524000" y="6492878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pPr/>
              <a:t>3</a:t>
            </a:fld>
            <a:endParaRPr lang="en-IN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6668387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629E6-5636-72A9-99EF-21F441CCF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8D52B91-5C88-4101-2992-919B1E265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362A55F-2688-55BC-1933-39E602608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pPr/>
              <a:t>4</a:t>
            </a:fld>
            <a:endParaRPr lang="en-IN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5380" name="Rectangle 4">
            <a:extLst>
              <a:ext uri="{FF2B5EF4-FFF2-40B4-BE49-F238E27FC236}">
                <a16:creationId xmlns:a16="http://schemas.microsoft.com/office/drawing/2014/main" id="{A68C63AE-DA24-39AF-CF8D-2E90D5DF5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548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5381" name="Text Box 5">
            <a:extLst>
              <a:ext uri="{FF2B5EF4-FFF2-40B4-BE49-F238E27FC236}">
                <a16:creationId xmlns:a16="http://schemas.microsoft.com/office/drawing/2014/main" id="{EFFB2C7C-3A9A-9946-22C2-D20B4AF1CC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9200" y="155255"/>
            <a:ext cx="90402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2400" b="1">
                <a:solidFill>
                  <a:schemeClr val="bg1"/>
                </a:solidFill>
                <a:latin typeface="Calibri" pitchFamily="34" charset="0"/>
                <a:ea typeface="ＭＳ Ｐゴシック" pitchFamily="-28" charset="-128"/>
              </a:defRPr>
            </a:lvl1pPr>
          </a:lstStyle>
          <a:p>
            <a:pPr algn="ctr"/>
            <a:r>
              <a:rPr lang="en-IN" dirty="0"/>
              <a:t>Scope of Work</a:t>
            </a:r>
          </a:p>
        </p:txBody>
      </p:sp>
      <p:sp>
        <p:nvSpPr>
          <p:cNvPr id="485384" name="Rectangle 8">
            <a:extLst>
              <a:ext uri="{FF2B5EF4-FFF2-40B4-BE49-F238E27FC236}">
                <a16:creationId xmlns:a16="http://schemas.microsoft.com/office/drawing/2014/main" id="{F0FE7A65-FB71-E40E-6EC5-B4BEF5A51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5480" y="6165304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64C76C6B-9585-D82D-96E2-9226C63C2DB0}"/>
              </a:ext>
            </a:extLst>
          </p:cNvPr>
          <p:cNvSpPr txBox="1">
            <a:spLocks/>
          </p:cNvSpPr>
          <p:nvPr/>
        </p:nvSpPr>
        <p:spPr>
          <a:xfrm>
            <a:off x="1524000" y="6492878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pPr/>
              <a:t>4</a:t>
            </a:fld>
            <a:endParaRPr lang="en-IN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3DB506E-463A-D7A1-F4A4-BAE89D0E89AC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467625" y="1394122"/>
            <a:ext cx="914343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a Python-based recommendation model.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a web interface using HTML, CSS, and JavaScript.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hybrid AI (Cosine Similarity + Random Forest).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accurate job recommendations with details like title, salary, and industry.</a:t>
            </a:r>
          </a:p>
        </p:txBody>
      </p:sp>
    </p:spTree>
    <p:extLst>
      <p:ext uri="{BB962C8B-B14F-4D97-AF65-F5344CB8AC3E}">
        <p14:creationId xmlns:p14="http://schemas.microsoft.com/office/powerpoint/2010/main" val="2608589684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pPr/>
              <a:t>5</a:t>
            </a:fld>
            <a:endParaRPr lang="en-IN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5380" name="Rectangle 4"/>
          <p:cNvSpPr>
            <a:spLocks noChangeArrowheads="1"/>
          </p:cNvSpPr>
          <p:nvPr/>
        </p:nvSpPr>
        <p:spPr bwMode="auto">
          <a:xfrm>
            <a:off x="141548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5381" name="Text Box 5"/>
          <p:cNvSpPr txBox="1">
            <a:spLocks noChangeArrowheads="1"/>
          </p:cNvSpPr>
          <p:nvPr/>
        </p:nvSpPr>
        <p:spPr bwMode="auto">
          <a:xfrm>
            <a:off x="1524000" y="221904"/>
            <a:ext cx="90354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Methodology / Proposed Approach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85384" name="Rectangle 8"/>
          <p:cNvSpPr>
            <a:spLocks noChangeArrowheads="1"/>
          </p:cNvSpPr>
          <p:nvPr/>
        </p:nvSpPr>
        <p:spPr bwMode="auto">
          <a:xfrm>
            <a:off x="1415480" y="6165304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1524000" y="6492878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pPr/>
              <a:t>5</a:t>
            </a:fld>
            <a:endParaRPr lang="en-IN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CBC6CB6-0BF3-5679-5037-2B09B1B4E0D1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416050" y="1255101"/>
            <a:ext cx="914343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Preprocessing: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Cleaned and encoded job dataset.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Hybrid Model: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Combined text similarity and Random Forest predictions.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Input: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Collected via CLI/Web form.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Recommendation: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Generated top 5 jobs based on similarity and suitability.</a:t>
            </a:r>
          </a:p>
        </p:txBody>
      </p:sp>
    </p:spTree>
    <p:extLst>
      <p:ext uri="{BB962C8B-B14F-4D97-AF65-F5344CB8AC3E}">
        <p14:creationId xmlns:p14="http://schemas.microsoft.com/office/powerpoint/2010/main" val="2843790546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1C232-DDD0-46AF-CDC4-3E11A4779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B6FF963-1FF9-B5A8-66F1-920CA3237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2EF59A-7AF5-1057-CF3B-70578A9076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15480" y="1120212"/>
            <a:ext cx="9160780" cy="4868021"/>
          </a:xfrm>
        </p:spPr>
        <p:txBody>
          <a:bodyPr>
            <a:normAutofit/>
          </a:bodyPr>
          <a:lstStyle/>
          <a:p>
            <a:pPr lvl="0"/>
            <a:r>
              <a:rPr lang="en-IN" sz="2400" b="1" dirty="0"/>
              <a:t>User Interface:</a:t>
            </a:r>
            <a:r>
              <a:rPr lang="en-IN" sz="2400" dirty="0"/>
              <a:t> </a:t>
            </a:r>
            <a:r>
              <a:rPr lang="en-US" sz="2400" dirty="0"/>
              <a:t>A simple web page with login and input forms for collecting user details and displaying recommended jobs. Built using </a:t>
            </a:r>
            <a:r>
              <a:rPr lang="en-US" sz="2400" b="1" dirty="0"/>
              <a:t>HTML, CSS, and JavaScript</a:t>
            </a:r>
            <a:r>
              <a:rPr lang="en-US" sz="2400" dirty="0"/>
              <a:t>.</a:t>
            </a:r>
            <a:endParaRPr lang="en-IN" sz="2400" dirty="0"/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77E24C-92AE-4532-4A8B-E9A08AC48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pPr/>
              <a:t>6</a:t>
            </a:fld>
            <a:endParaRPr lang="en-IN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5380" name="Rectangle 4">
            <a:extLst>
              <a:ext uri="{FF2B5EF4-FFF2-40B4-BE49-F238E27FC236}">
                <a16:creationId xmlns:a16="http://schemas.microsoft.com/office/drawing/2014/main" id="{BA339B23-031E-3BAF-5771-5D0C7BD23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548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5381" name="Text Box 5">
            <a:extLst>
              <a:ext uri="{FF2B5EF4-FFF2-40B4-BE49-F238E27FC236}">
                <a16:creationId xmlns:a16="http://schemas.microsoft.com/office/drawing/2014/main" id="{0D066D8A-37AD-36C8-8AF0-4A54BFBDFC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6681" y="214193"/>
            <a:ext cx="90354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Methodology / Proposed Approach</a:t>
            </a:r>
          </a:p>
        </p:txBody>
      </p:sp>
      <p:sp>
        <p:nvSpPr>
          <p:cNvPr id="485384" name="Rectangle 8">
            <a:extLst>
              <a:ext uri="{FF2B5EF4-FFF2-40B4-BE49-F238E27FC236}">
                <a16:creationId xmlns:a16="http://schemas.microsoft.com/office/drawing/2014/main" id="{E50756D1-57F6-56AB-C857-CDC20EFAC0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5480" y="6165304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36ECD128-D3E1-6A3A-9FA6-F343322D60B8}"/>
              </a:ext>
            </a:extLst>
          </p:cNvPr>
          <p:cNvSpPr txBox="1">
            <a:spLocks/>
          </p:cNvSpPr>
          <p:nvPr/>
        </p:nvSpPr>
        <p:spPr>
          <a:xfrm>
            <a:off x="1524000" y="6492878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pPr/>
              <a:t>6</a:t>
            </a:fld>
            <a:endParaRPr lang="en-IN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66FE7C-E056-0DEF-D1F8-289E221BAC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7528" y="2420888"/>
            <a:ext cx="8208912" cy="367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840984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585D982-6CE0-BE8F-9E4E-2F4E4D13B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3F4834-0A01-4319-3652-E52225B3E9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0" y="1250695"/>
            <a:ext cx="9234131" cy="2049226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2400" dirty="0"/>
              <a:t>✅ Data cleaned and preprocessed</a:t>
            </a:r>
          </a:p>
          <a:p>
            <a:pPr marL="0" lvl="0" indent="0">
              <a:buNone/>
            </a:pPr>
            <a:br>
              <a:rPr lang="en-US" sz="2400" dirty="0"/>
            </a:br>
            <a:r>
              <a:rPr lang="en-US" sz="2400" dirty="0"/>
              <a:t>✅ Hybrid model implemented</a:t>
            </a:r>
          </a:p>
          <a:p>
            <a:pPr marL="0" lvl="0" indent="0">
              <a:buNone/>
            </a:pPr>
            <a:br>
              <a:rPr lang="en-US" sz="2400" dirty="0"/>
            </a:br>
            <a:r>
              <a:rPr lang="en-US" sz="2400" dirty="0"/>
              <a:t>✅ CLI version working</a:t>
            </a:r>
          </a:p>
          <a:p>
            <a:pPr marL="0" lvl="0" indent="0">
              <a:buNone/>
            </a:pPr>
            <a:br>
              <a:rPr lang="en-US" sz="2400" dirty="0"/>
            </a:br>
            <a:r>
              <a:rPr lang="en-US" sz="2400" dirty="0"/>
              <a:t>✅ Web interface created</a:t>
            </a:r>
          </a:p>
          <a:p>
            <a:pPr marL="0" lvl="0" indent="0">
              <a:buNone/>
            </a:pPr>
            <a:br>
              <a:rPr lang="en-US" sz="2400" dirty="0"/>
            </a:br>
            <a:r>
              <a:rPr lang="en-US" sz="2400" dirty="0"/>
              <a:t>🔄 Integration and skill tracking module under progress</a:t>
            </a:r>
            <a:endParaRPr lang="en-IN" sz="24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pPr/>
              <a:t>7</a:t>
            </a:fld>
            <a:endParaRPr lang="en-IN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5380" name="Rectangle 4"/>
          <p:cNvSpPr>
            <a:spLocks noChangeArrowheads="1"/>
          </p:cNvSpPr>
          <p:nvPr/>
        </p:nvSpPr>
        <p:spPr bwMode="auto">
          <a:xfrm>
            <a:off x="152400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5381" name="Text Box 5"/>
          <p:cNvSpPr txBox="1">
            <a:spLocks noChangeArrowheads="1"/>
          </p:cNvSpPr>
          <p:nvPr/>
        </p:nvSpPr>
        <p:spPr bwMode="auto">
          <a:xfrm>
            <a:off x="1524000" y="220478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Current Progress</a:t>
            </a:r>
          </a:p>
        </p:txBody>
      </p:sp>
      <p:sp>
        <p:nvSpPr>
          <p:cNvPr id="485384" name="Rectangle 8"/>
          <p:cNvSpPr>
            <a:spLocks noChangeArrowheads="1"/>
          </p:cNvSpPr>
          <p:nvPr/>
        </p:nvSpPr>
        <p:spPr bwMode="auto">
          <a:xfrm>
            <a:off x="1510882" y="6156583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1524000" y="6492878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pPr/>
              <a:t>7</a:t>
            </a:fld>
            <a:endParaRPr lang="en-IN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9915934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315A3-354B-C0D0-3343-42AD4EC45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6018716-A7FA-337A-BBBC-DFCAC255E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7AF3DD-0B9D-9C0B-79F3-F91F001314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52824" y="1019734"/>
            <a:ext cx="9234131" cy="4992522"/>
          </a:xfrm>
        </p:spPr>
        <p:txBody>
          <a:bodyPr>
            <a:noAutofit/>
          </a:bodyPr>
          <a:lstStyle/>
          <a:p>
            <a:r>
              <a:rPr lang="en-IN" sz="2400" dirty="0"/>
              <a:t>Model tested locally with sample Inputs:-</a:t>
            </a:r>
          </a:p>
          <a:p>
            <a:pPr marL="0" lvl="0" indent="0">
              <a:buNone/>
            </a:pPr>
            <a:endParaRPr lang="en-I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DCDEAB-33D8-54D5-12FC-A59B631D8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pPr/>
              <a:t>8</a:t>
            </a:fld>
            <a:endParaRPr lang="en-IN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5380" name="Rectangle 4">
            <a:extLst>
              <a:ext uri="{FF2B5EF4-FFF2-40B4-BE49-F238E27FC236}">
                <a16:creationId xmlns:a16="http://schemas.microsoft.com/office/drawing/2014/main" id="{9BDB4D55-CECE-73A5-2D87-A02E5D5E27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5381" name="Text Box 5">
            <a:extLst>
              <a:ext uri="{FF2B5EF4-FFF2-40B4-BE49-F238E27FC236}">
                <a16:creationId xmlns:a16="http://schemas.microsoft.com/office/drawing/2014/main" id="{98E7750D-1A4F-7A87-C861-7DCF39D24C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20478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Test Run: </a:t>
            </a:r>
          </a:p>
        </p:txBody>
      </p:sp>
      <p:sp>
        <p:nvSpPr>
          <p:cNvPr id="485384" name="Rectangle 8">
            <a:extLst>
              <a:ext uri="{FF2B5EF4-FFF2-40B4-BE49-F238E27FC236}">
                <a16:creationId xmlns:a16="http://schemas.microsoft.com/office/drawing/2014/main" id="{B350427F-1F5D-CDDB-D387-332BBD53D6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0882" y="6156583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F91C5334-7B4D-AE43-6358-943E8C1A2A38}"/>
              </a:ext>
            </a:extLst>
          </p:cNvPr>
          <p:cNvSpPr txBox="1">
            <a:spLocks/>
          </p:cNvSpPr>
          <p:nvPr/>
        </p:nvSpPr>
        <p:spPr>
          <a:xfrm>
            <a:off x="1524000" y="6492878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pPr/>
              <a:t>8</a:t>
            </a:fld>
            <a:endParaRPr lang="en-IN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02D2522-FF63-BDD3-056E-2D2601EB46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528" y="1916832"/>
            <a:ext cx="8064896" cy="295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831640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F42C2-F2BA-399C-AC40-BD8C35C04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F8A310D-D63D-3C3C-6797-7A520953B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BC53D55-E1FD-DC49-CF9B-208ADF9BBF2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3575720" y="914400"/>
            <a:ext cx="4896544" cy="5233459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A83994-50B6-6E0D-18BD-D92420B82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pPr/>
              <a:t>9</a:t>
            </a:fld>
            <a:endParaRPr lang="en-IN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5380" name="Rectangle 4">
            <a:extLst>
              <a:ext uri="{FF2B5EF4-FFF2-40B4-BE49-F238E27FC236}">
                <a16:creationId xmlns:a16="http://schemas.microsoft.com/office/drawing/2014/main" id="{8D0EE933-807E-142C-0998-0BD7F70F7A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5381" name="Text Box 5">
            <a:extLst>
              <a:ext uri="{FF2B5EF4-FFF2-40B4-BE49-F238E27FC236}">
                <a16:creationId xmlns:a16="http://schemas.microsoft.com/office/drawing/2014/main" id="{BAC941CF-065E-FDA5-B850-9AD08DCD03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20478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Test Run: </a:t>
            </a:r>
          </a:p>
        </p:txBody>
      </p:sp>
      <p:sp>
        <p:nvSpPr>
          <p:cNvPr id="485384" name="Rectangle 8">
            <a:extLst>
              <a:ext uri="{FF2B5EF4-FFF2-40B4-BE49-F238E27FC236}">
                <a16:creationId xmlns:a16="http://schemas.microsoft.com/office/drawing/2014/main" id="{AF063ACF-0584-1812-0F8F-BE8744A24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0882" y="6156583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946D85E-995D-0D5A-FB75-6D13C6BFAF01}"/>
              </a:ext>
            </a:extLst>
          </p:cNvPr>
          <p:cNvSpPr txBox="1">
            <a:spLocks/>
          </p:cNvSpPr>
          <p:nvPr/>
        </p:nvSpPr>
        <p:spPr>
          <a:xfrm>
            <a:off x="1524000" y="6492878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pPr/>
              <a:t>9</a:t>
            </a:fld>
            <a:endParaRPr lang="en-IN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8436646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CA7DE-13AB-DF92-EFEC-04C5F85C0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9E67BF6-E653-3D8A-272E-FCCFAE37C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79D7F7-D95F-7EEA-CAEE-FF6CE365D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pPr/>
              <a:t>10</a:t>
            </a:fld>
            <a:endParaRPr lang="en-IN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5380" name="Rectangle 4">
            <a:extLst>
              <a:ext uri="{FF2B5EF4-FFF2-40B4-BE49-F238E27FC236}">
                <a16:creationId xmlns:a16="http://schemas.microsoft.com/office/drawing/2014/main" id="{0350568E-1A58-E86E-98CA-82CEB5F63E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5381" name="Text Box 5">
            <a:extLst>
              <a:ext uri="{FF2B5EF4-FFF2-40B4-BE49-F238E27FC236}">
                <a16:creationId xmlns:a16="http://schemas.microsoft.com/office/drawing/2014/main" id="{3F222FB8-4302-E8F0-9A62-2FCEBC3021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1276" y="178898"/>
            <a:ext cx="583264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Challenges Faced &amp; Possible Solutions</a:t>
            </a:r>
          </a:p>
        </p:txBody>
      </p:sp>
      <p:sp>
        <p:nvSpPr>
          <p:cNvPr id="485384" name="Rectangle 8">
            <a:extLst>
              <a:ext uri="{FF2B5EF4-FFF2-40B4-BE49-F238E27FC236}">
                <a16:creationId xmlns:a16="http://schemas.microsoft.com/office/drawing/2014/main" id="{3C63E915-7B12-7B9B-FF9A-686234584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6165304"/>
            <a:ext cx="9684568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6778E1BC-14D1-895F-F267-C1788D958C32}"/>
              </a:ext>
            </a:extLst>
          </p:cNvPr>
          <p:cNvSpPr txBox="1">
            <a:spLocks/>
          </p:cNvSpPr>
          <p:nvPr/>
        </p:nvSpPr>
        <p:spPr>
          <a:xfrm>
            <a:off x="1524000" y="6492878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pPr/>
              <a:t>10</a:t>
            </a:fld>
            <a:endParaRPr lang="en-IN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FC845EC3-43CC-F5BD-06BB-DA6C7F16CE0B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971913685"/>
              </p:ext>
            </p:extLst>
          </p:nvPr>
        </p:nvGraphicFramePr>
        <p:xfrm>
          <a:off x="1524000" y="1483060"/>
          <a:ext cx="9055546" cy="3528392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4527773">
                  <a:extLst>
                    <a:ext uri="{9D8B030D-6E8A-4147-A177-3AD203B41FA5}">
                      <a16:colId xmlns:a16="http://schemas.microsoft.com/office/drawing/2014/main" val="2543338108"/>
                    </a:ext>
                  </a:extLst>
                </a:gridCol>
                <a:gridCol w="4527773">
                  <a:extLst>
                    <a:ext uri="{9D8B030D-6E8A-4147-A177-3AD203B41FA5}">
                      <a16:colId xmlns:a16="http://schemas.microsoft.com/office/drawing/2014/main" val="3623531054"/>
                    </a:ext>
                  </a:extLst>
                </a:gridCol>
              </a:tblGrid>
              <a:tr h="8820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u="sng" dirty="0"/>
                        <a:t>Challenge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u="sng" dirty="0"/>
                        <a:t>Solution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1919487"/>
                  </a:ext>
                </a:extLst>
              </a:tr>
              <a:tr h="8820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Limited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Used pseudo-labeling &amp; hybrid scoring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852837"/>
                  </a:ext>
                </a:extLst>
              </a:tr>
              <a:tr h="8820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Low text 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Added Sentence-BERT embeddings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0665715"/>
                  </a:ext>
                </a:extLst>
              </a:tr>
              <a:tr h="8820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Integration issues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Plan to connect via Flask API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41018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7438473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46BE5E0-67C0-F470-E778-21D623CF6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71CA2-A83C-492A-EECE-0214464C91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39313" y="1535360"/>
            <a:ext cx="7097150" cy="3971373"/>
          </a:xfrm>
        </p:spPr>
        <p:txBody>
          <a:bodyPr>
            <a:noAutofit/>
          </a:bodyPr>
          <a:lstStyle/>
          <a:p>
            <a:r>
              <a:rPr lang="en-US" sz="2400" dirty="0"/>
              <a:t>Add skill tracking &amp; learning roadmap.</a:t>
            </a:r>
          </a:p>
          <a:p>
            <a:endParaRPr lang="en-US" sz="2400" dirty="0"/>
          </a:p>
          <a:p>
            <a:r>
              <a:rPr lang="en-US" sz="2400" dirty="0"/>
              <a:t>Integrate live job data and analytics.</a:t>
            </a:r>
          </a:p>
          <a:p>
            <a:endParaRPr lang="en-US" sz="2400" dirty="0"/>
          </a:p>
          <a:p>
            <a:r>
              <a:rPr lang="en-US" sz="2400" dirty="0"/>
              <a:t>Deploy full web app with database and visualization.</a:t>
            </a:r>
          </a:p>
        </p:txBody>
      </p:sp>
      <p:pic>
        <p:nvPicPr>
          <p:cNvPr id="18" name="Content Placeholder 17" descr="A person standing on top of books looking through a telescope&#10;&#10;AI-generated content may be incorrect.">
            <a:extLst>
              <a:ext uri="{FF2B5EF4-FFF2-40B4-BE49-F238E27FC236}">
                <a16:creationId xmlns:a16="http://schemas.microsoft.com/office/drawing/2014/main" id="{8895747C-1A4E-C770-912F-EE99B02D7F3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8248" y="2252093"/>
            <a:ext cx="3117301" cy="3117301"/>
          </a:xfr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pPr/>
              <a:t>11</a:t>
            </a:fld>
            <a:endParaRPr lang="en-IN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5380" name="Rectangle 4"/>
          <p:cNvSpPr>
            <a:spLocks noChangeArrowheads="1"/>
          </p:cNvSpPr>
          <p:nvPr/>
        </p:nvSpPr>
        <p:spPr bwMode="auto">
          <a:xfrm>
            <a:off x="152400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5381" name="Text Box 5"/>
          <p:cNvSpPr txBox="1">
            <a:spLocks noChangeArrowheads="1"/>
          </p:cNvSpPr>
          <p:nvPr/>
        </p:nvSpPr>
        <p:spPr bwMode="auto">
          <a:xfrm>
            <a:off x="5087888" y="244542"/>
            <a:ext cx="61727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485384" name="Rectangle 8"/>
          <p:cNvSpPr>
            <a:spLocks noChangeArrowheads="1"/>
          </p:cNvSpPr>
          <p:nvPr/>
        </p:nvSpPr>
        <p:spPr bwMode="auto">
          <a:xfrm>
            <a:off x="1524000" y="6165304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1524000" y="6492878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pPr/>
              <a:t>11</a:t>
            </a:fld>
            <a:endParaRPr lang="en-IN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171B02-5BE3-4D7F-0AB1-DD543CD7E135}"/>
              </a:ext>
            </a:extLst>
          </p:cNvPr>
          <p:cNvSpPr txBox="1"/>
          <p:nvPr/>
        </p:nvSpPr>
        <p:spPr>
          <a:xfrm>
            <a:off x="4655840" y="6342375"/>
            <a:ext cx="48245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i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Future  scope of system</a:t>
            </a:r>
          </a:p>
        </p:txBody>
      </p:sp>
    </p:spTree>
    <p:extLst>
      <p:ext uri="{BB962C8B-B14F-4D97-AF65-F5344CB8AC3E}">
        <p14:creationId xmlns:p14="http://schemas.microsoft.com/office/powerpoint/2010/main" val="2585641894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72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THANK YOU..!!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70934" y="6604084"/>
            <a:ext cx="130997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05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T004/ Version 1.0</a:t>
            </a:r>
          </a:p>
        </p:txBody>
      </p:sp>
    </p:spTree>
    <p:extLst>
      <p:ext uri="{BB962C8B-B14F-4D97-AF65-F5344CB8AC3E}">
        <p14:creationId xmlns:p14="http://schemas.microsoft.com/office/powerpoint/2010/main" val="4040718866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4678</TotalTime>
  <Words>459</Words>
  <Application>Microsoft Office PowerPoint</Application>
  <PresentationFormat>Widescreen</PresentationFormat>
  <Paragraphs>89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Times New Roman</vt:lpstr>
      <vt:lpstr>Office Theme</vt:lpstr>
      <vt:lpstr>Personalized Carrier Recommendation System  Date: 10/10/2025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YOU..!!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Bhavishya CHauhan</dc:creator>
  <cp:lastModifiedBy>Jitendra Chaudhary</cp:lastModifiedBy>
  <cp:revision>130</cp:revision>
  <dcterms:created xsi:type="dcterms:W3CDTF">2016-07-30T14:16:51Z</dcterms:created>
  <dcterms:modified xsi:type="dcterms:W3CDTF">2025-10-10T08:35:03Z</dcterms:modified>
</cp:coreProperties>
</file>